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The task: given an interview question and the politician's answer, classify how the answer responds. The example on the right (dev item 17, three annotators) returns later as our annotated failure case. Source: Report/Report.pdf, title page and Figure 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item is a triple: the sub-question q, the journalist's full turn Q, and the full answer a. Subtask 2 asks for one of nine evasion types; Subtask 1's three clarity levels follow through the fixed taxonomy g. The metric is multi-reference macro-F1: a prediction is a true positive if any annotator gave that label; a miss charges a false negative to every label in the reference set. If every prediction is acceptable, the score equals the number of distinct classes predicted over nine, so naming every class matters. Sources: Report §2, Table 1; docs/01_scorer_geometry.md.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Fine-tuned encoders level off near 0.50 test S2 in the organisers' overview, however large or ensembled. The top systems are multi-call LLM pipelines: TeleAI makes 1.94 calls per item with about 7,300 input tokens. Published systems change many components at once, so their gains cannot be attributed. Our question is narrower: what limits a single-pass classifier? Floors: docs/raw/mideval/trivial_baselines.csv. Published rows: each team's paper, dev set, own protocol.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explanations predict different things: label noise, the decision rule, missing knowledge, or label meaning that cannot be learnt from 3,448 examples. The system is built so each can be tested by one change. A flat 9-way head; Subtask 1 is read off through g. A system averages ten seeds and applies logit adjustment, the only parameter fitted on dev. The backbone box is the one component the E13 experiment swaps. Source: Report §1 and Figure 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epoch is chosen on a fixed 10% slice of train (345 rows); dev never selects anything. The only parameter fitted on dev is tau, by 5-fold nested cross-validation, so reported scores are held out. Seeds 0-9 fix head initialisation and data order, so they are paired across configurations. Each variant is screened on three seeds against a bar fixed in advance (+0.015 with 2 of 3 seeds up). Source: Report §2, docs/02_experiment_log.md.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runs did not learn: transformers 5.x loads DeBERTa-v3 in its stored fp16 weights, attention overflowed and the loss sat at 1.887 while the model predicted Explicit for everything. Loading in fp32 fixed it. A 5-epoch rerun scored 0.223 because the cosine schedule spans the run: a budget problem, not a bad idea, a pattern that recurs. The 8-epoch baseline is 0.337 +/- 0.044 on five seeds. Sources: docs/02_experiment_log.md Steps 1-2 and E0; docs/raw/E0_analysis.txt.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Averaging the five baseline seeds lifts S2 from 0.337 to 0.365. An acceptable label is in the top three for 90% of items, an oracle of 0.745, so the decision is the weak point. One-scalar logit adjustment reaches 0.438 held out and barely overfits (in-fold minus held-out 0.018). Nine per-class weights, the metric-optimal rule in theory, overfit 308 items by 0.098. Logit adjustment joins every later system. Source: docs/02_experiment_log.md E2-E4.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variants, each against its own named control; none clears the +0.015 screening bar. Three hierarchies fail because a flat softmax already scores all nine labels jointly. The definition re-ranker learns from the same 3,448 examples, so it has no knowledge the first model lacks. Weight soups fail because seeds differ in head initialisation and data order. Balanced Softmax with focal loss over-corrects (Explicit F1 0.679 to 0.319); note E8 also changed the input. Source: docs/02_experiment_log.md E4-E12, Report §4.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E7: ChulaNLP's comparable DeBERTa (0.46) sees the full journalist question, which ours did not. Adding it at 8 epochs (E8b) scored below the baseline, 0.282 against 0.337. The run reports showed why: final train loss 1.32-1.50 against 0.57-1.09, and low confidence (mean top probability 0.445 vs 0.594). At 16 epochs (E10) the same input gives the best single model. E8's first diagnosis, the loss, was revised after this one-change control. Source: docs/02_experiment_log.md E7-E10; per-seed scores from runs/*/seed*/metrics.json.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E11 reruns all three configurations on seeds 5-9, giving ten paired seeds. Per model the two changes add +0.069 S2 and +0.038 S1, each on 9 of 10 seeds. Systems are another matter: the baseline system scored 0.438 on seeds 0-4 and 0.356 on seeds 5-9, and E10's 0.478 fell to 0.434. So all system claims use ten seeds. The final DeBERTa system, chosen by a rule fixed in advance, is full question + 16 epochs: 0.405 S2, 0.648 S1. Source: docs/raw/E11_replication.txt; Report Table 2, Figure 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decision layer saturated and the error analysis pointing at the model, two explanations remain: knowledge or label meaning. A larger pretrained classifier tests knowledge with nothing else changed: same 3,103 rows, input, 345-row slice, loss and selection rule. LoRA r=16, alpha 32, on all attention and MLP projections; a new 9-way head on the last token; a padding self-check aborts any run whose head reads a pad token. Predictions were registered before the run. Sources: docs/02_experiment_log.md §E13, docs/raw/E13_final_analysis.txt, code/models/llm_classifier.py:124.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Per-class F1 rises in 7 of 9 classes. The largest gains are on the Non-Reply types, Claims ignorance +0.403 and Declining +0.220, which depend on recognising what kind of statement an answer is. The commitment classes we expected to gain most moved least. Clarification falls, but it has only 4 dev reference sets, and neither model ever predicts Partial/half-answer. Source: Report Table 4; docs/raw/E13_final_analysis.txt section 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3-epoch runs the last epoch was always selected, which under a cosine schedule proves little. With 12 epochs (seeds 0-2) the slice selected epochs 8-11 and slice F1 rose +0.084 on all three, so the registered rule adopted 12 epochs; dev S2 0.543 is reported, not used. Training on all 3,448 rows gave +0.017 per model on 6 of 10 seeds; its system interval spans zero and S1 fell 0.746 to 0.711. Mixing Qwen and DeBERTa probabilities adds nothing. Source: Report Table 3; docs/raw/E13_final_analysis.txt.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model, Qwen adds +0.092 S2, more than the entire encoder track gained (+0.069 from 0.315 to 0.384). The 10-seed system gain is +0.136 with a bootstrap 95% CI of [+0.054, +0.224], and it holds on the three two-annotator reference sets that mimic the test regime (0.524 vs 0.382). Logit adjustment matters more for Qwen, whose raw predictions lean to frequent classes (General predicted for 24 items but in 113 reference sets). System numbers here use the first nested-CV split. Sources: Report Table 3; docs/raw/E13_final_analysis.txt; README §6.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(a): every Qwen seed beats its paired DeBERTa seed. Panel (b): the systems against published dev results. Bars here are the mean over 10 nested-CV splits (0.412 and 0.549), slightly different from the first-split numbers in the table. The Qwen system sits above TeleAI's fine-tuned Qwen2.5-7B and ChulaNLP's hybrid, and 0.074 below TeleAI's winning pipeline, while making no LLM calls. Those systems follow other protocols. Source: Report Figure 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the final DeBERTa ensemble's 308 predictions, 137 miss the reference set, and 53 of those are on items all three annotators agreed on. Scored like the test set, each annotator against the other two reaches 0.643-0.766 (mean 0.684), the ensemble 0.380. The biggest error pairs concern how committed an answer is. Long inputs hurt: the 20 inputs still cut at 1,024 tokens land in-set 20% of the time. The matrix uses majority gold; the error-pair counts use reference sets. Source: Report §6; docs/raw/mideval/mideval_analysis.txt, confusion_final.csv.</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 item 17 was fixed in advance as the error to discuss. Reading 'I'm going to stay out of Connecticut' as a near-answer needs to know Lieberman is Connecticut's senator; this is our reading, not a measurement. Qwen ranks the acceptable Dodging first, but logit adjustment divides by the train prior (0.205 for Dodging, 0.042 for Declining) and moves the decision to the rarer class. Limitations: dev-only evaluation, moderate label agreement (Fleiss kappa 0.48 on nine types), a 12-epoch schedule screened on 3 seeds, possible pretraining exposure to the public transcripts, and Partial/half-answer never predicted. Source: Report Figure 4 and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contributions. First, a controlled DeBERTa system whose two real improvements, longer training and the full question, are separated from seven documented failures. Second, evidence that the remaining gap is the model, not label noise or the decision rule. Third, a one-change test of the knowledge explanation: the 8B backbone improves both subtasks on all ten paired seeds. Fourth, an analysis showing our own registered prediction about where the gain falls was wrong. Source: Report §1, §7.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Qwen (seeds 0-2) an acceptable label is first for 60.4% of items, in the top three for 93.1% and the top five for 99.1%. The in-set rate climbs from 0.40 in the least confident fifth of dev to 0.87 in the most confident. So most remaining errors are a choice among a few candidates the model already ranks highly, and confidence tells us which items those are. That is the case for a cascade that spends LLM calls only on uncertain items. Source: docs/raw/E13_Q8_topk_confidence.txt.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modules, each added as one change under the same protocol. M1: the 12-epoch Qwen classifier on ten seeds returns a calibrated candidate set C(x) holding the gold label for 95% of held-out items, plus an uncertainty score u(x). M3: a local open-weight LLM scores only the labels in C(x), with definitions, a confusion guide and boundary examples. M2: route the fraction delta with the highest u(x) to M3; sweep delta for an accuracy-versus-calls curve. M4: distil M3 back into M1 and run 4-bit. Target: at least 0.60 dev S2 with at most 0.3 LLM calls per item, a sixth of the winner's. Source: Report §7, Figure 5, Table 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48640" y="658368"/>
            <a:ext cx="11091672" cy="603504"/>
          </a:xfrm>
        </p:spPr>
        <p:txBody>
          <a:bodyPr anchor="t" lIns="0" tIns="0" rIns="0" bIns="0">
            <a:normAutofit/>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
        <p:nvSpPr>
          <p:cNvPr id="2" name="TextBox 1"/>
          <p:cNvSpPr txBox="1"/>
          <p:nvPr/>
        </p:nvSpPr>
        <p:spPr>
          <a:xfrm>
            <a:off x="548640" y="6428232"/>
            <a:ext cx="8686800" cy="256032"/>
          </a:xfrm>
          <a:prstGeom prst="rect">
            <a:avLst/>
          </a:prstGeom>
          <a:noFill/>
        </p:spPr>
        <p:txBody>
          <a:bodyPr wrap="square" lIns="0" rIns="0" tIns="0" bIns="0" anchor="t">
            <a:noAutofit/>
          </a:bodyPr>
          <a:lstStyle/>
          <a:p>
            <a:pPr algn="l"/>
            <a:r>
              <a:rPr sz="1000" b="0" i="0">
                <a:solidFill>
                  <a:srgbClr val="64748B"/>
                </a:solidFill>
              </a:rPr>
              <a:t>Nier_ANLP  ·  SemEval-2026 Task 6 (CLARITY)  ·  all scores on the 308-item dev set</a:t>
            </a:r>
          </a:p>
        </p:txBody>
      </p:sp>
      <p:sp>
        <p:nvSpPr>
          <p:cNvPr id="3" name="TextBox 2"/>
          <p:cNvSpPr txBox="1"/>
          <p:nvPr/>
        </p:nvSpPr>
        <p:spPr>
          <a:xfrm>
            <a:off x="10725912" y="6428232"/>
            <a:ext cx="914400" cy="256032"/>
          </a:xfrm>
          <a:prstGeom prst="rect">
            <a:avLst/>
          </a:prstGeom>
          <a:noFill/>
        </p:spPr>
        <p:txBody>
          <a:bodyPr wrap="square" lIns="0" rIns="0" tIns="0" bIns="0" anchor="t">
            <a:noAutofit/>
          </a:bodyPr>
          <a:lstStyle/>
          <a:p>
            <a:pPr algn="r"/>
            <a:fld id="{B6F15528-21DE-4FAA-801E-634DDDAF4B2B}" type="slidenum">
              <a:rPr lang="en-US" sz="1000"/>
              <a:t>‹#›</a:t>
            </a:fld>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1">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914400"/>
            <a:ext cx="6583680" cy="274320"/>
          </a:xfrm>
          <a:prstGeom prst="rect">
            <a:avLst/>
          </a:prstGeom>
          <a:noFill/>
        </p:spPr>
        <p:txBody>
          <a:bodyPr wrap="square" lIns="0" rIns="0" tIns="0" bIns="0" anchor="t">
            <a:noAutofit/>
          </a:bodyPr>
          <a:lstStyle/>
          <a:p>
            <a:pPr algn="l"/>
            <a:r>
              <a:rPr sz="1300" b="1" i="0">
                <a:solidFill>
                  <a:srgbClr val="2F5D7C"/>
                </a:solidFill>
              </a:rPr>
              <a:t>SEMEVAL-2026 TASK 6  ·  CLARITY</a:t>
            </a:r>
          </a:p>
        </p:txBody>
      </p:sp>
      <p:sp>
        <p:nvSpPr>
          <p:cNvPr id="3" name="Title"/>
          <p:cNvSpPr txBox="1"/>
          <p:nvPr/>
        </p:nvSpPr>
        <p:spPr>
          <a:xfrm>
            <a:off x="731520" y="1298448"/>
            <a:ext cx="6812280" cy="731520"/>
          </a:xfrm>
          <a:prstGeom prst="rect">
            <a:avLst/>
          </a:prstGeom>
          <a:noFill/>
        </p:spPr>
        <p:txBody>
          <a:bodyPr wrap="square" lIns="0" rIns="0" tIns="0" bIns="0" anchor="t">
            <a:noAutofit/>
          </a:bodyPr>
          <a:lstStyle/>
          <a:p>
            <a:pPr algn="l"/>
            <a:r>
              <a:rPr sz="4200" b="1" i="0">
                <a:solidFill>
                  <a:srgbClr val="0F172A"/>
                </a:solidFill>
                <a:latin typeface="+mj-lt"/>
              </a:rPr>
              <a:t>Knowledge over Structure</a:t>
            </a:r>
          </a:p>
        </p:txBody>
      </p:sp>
      <p:sp>
        <p:nvSpPr>
          <p:cNvPr id="4" name="TextBox 3"/>
          <p:cNvSpPr txBox="1"/>
          <p:nvPr/>
        </p:nvSpPr>
        <p:spPr>
          <a:xfrm>
            <a:off x="731520" y="2121408"/>
            <a:ext cx="6400800" cy="822960"/>
          </a:xfrm>
          <a:prstGeom prst="rect">
            <a:avLst/>
          </a:prstGeom>
          <a:noFill/>
        </p:spPr>
        <p:txBody>
          <a:bodyPr wrap="square" lIns="0" rIns="0" tIns="0" bIns="0" anchor="t">
            <a:noAutofit/>
          </a:bodyPr>
          <a:lstStyle/>
          <a:p>
            <a:pPr algn="l"/>
            <a:r>
              <a:rPr sz="2200" b="0" i="0">
                <a:solidFill>
                  <a:srgbClr val="1E293B"/>
                </a:solidFill>
                <a:latin typeface="+mj-lt"/>
              </a:rPr>
              <a:t>A controlled study of response clarity classification in political interviews</a:t>
            </a:r>
          </a:p>
        </p:txBody>
      </p:sp>
      <p:sp>
        <p:nvSpPr>
          <p:cNvPr id="5" name="TextBox 4"/>
          <p:cNvSpPr txBox="1"/>
          <p:nvPr/>
        </p:nvSpPr>
        <p:spPr>
          <a:xfrm>
            <a:off x="731520" y="3108960"/>
            <a:ext cx="6400800" cy="548640"/>
          </a:xfrm>
          <a:prstGeom prst="rect">
            <a:avLst/>
          </a:prstGeom>
          <a:noFill/>
        </p:spPr>
        <p:txBody>
          <a:bodyPr wrap="square" lIns="0" rIns="0" tIns="0" bIns="0" anchor="t">
            <a:noAutofit/>
          </a:bodyPr>
          <a:lstStyle/>
          <a:p>
            <a:pPr algn="l"/>
            <a:r>
              <a:rPr sz="1600" b="0" i="0">
                <a:solidFill>
                  <a:srgbClr val="64748B"/>
                </a:solidFill>
              </a:rPr>
              <a:t>Mid-evaluation progress: from a DeBERTa baseline to a LoRA-tuned 8B classifier</a:t>
            </a:r>
          </a:p>
        </p:txBody>
      </p:sp>
      <p:sp>
        <p:nvSpPr>
          <p:cNvPr id="6" name="TextBox 5"/>
          <p:cNvSpPr txBox="1"/>
          <p:nvPr/>
        </p:nvSpPr>
        <p:spPr>
          <a:xfrm>
            <a:off x="731520" y="4069080"/>
            <a:ext cx="6035040" cy="1463040"/>
          </a:xfrm>
          <a:prstGeom prst="rect">
            <a:avLst/>
          </a:prstGeom>
          <a:noFill/>
        </p:spPr>
        <p:txBody>
          <a:bodyPr wrap="square" lIns="0" rIns="0" tIns="0" bIns="0" anchor="t">
            <a:noAutofit/>
          </a:bodyPr>
          <a:lstStyle/>
          <a:p>
            <a:pPr algn="l"/>
            <a:r>
              <a:rPr sz="1400" b="1" i="0">
                <a:solidFill>
                  <a:srgbClr val="1E293B"/>
                </a:solidFill>
              </a:rPr>
              <a:t>Team Nier_ANLP</a:t>
            </a:r>
          </a:p>
          <a:p>
            <a:pPr algn="l"/>
            <a:r>
              <a:rPr sz="1400" b="0" i="0">
                <a:solidFill>
                  <a:srgbClr val="1E293B"/>
                </a:solidFill>
              </a:rPr>
              <a:t>Vidvathama R  (2024122002)</a:t>
            </a:r>
          </a:p>
          <a:p>
            <a:pPr algn="l"/>
            <a:r>
              <a:rPr sz="1400" b="0" i="0">
                <a:solidFill>
                  <a:srgbClr val="1E293B"/>
                </a:solidFill>
              </a:rPr>
              <a:t>Siddarth Gottumukkula  (2023102040)</a:t>
            </a:r>
          </a:p>
          <a:p>
            <a:pPr algn="l"/>
            <a:r>
              <a:rPr sz="1400" b="0" i="0">
                <a:solidFill>
                  <a:srgbClr val="1E293B"/>
                </a:solidFill>
              </a:rPr>
              <a:t>Sanjana Reddy Vonteri  (2026901007)</a:t>
            </a:r>
          </a:p>
          <a:p>
            <a:pPr algn="l"/>
            <a:r>
              <a:rPr sz="1400" b="0" i="0">
                <a:solidFill>
                  <a:srgbClr val="1E293B"/>
                </a:solidFill>
              </a:rPr>
              <a:t>Shashikanta Sahoo  (2026900007)</a:t>
            </a:r>
          </a:p>
        </p:txBody>
      </p:sp>
      <p:sp>
        <p:nvSpPr>
          <p:cNvPr id="7" name="TextBox 6"/>
          <p:cNvSpPr txBox="1"/>
          <p:nvPr/>
        </p:nvSpPr>
        <p:spPr>
          <a:xfrm>
            <a:off x="731520" y="5760720"/>
            <a:ext cx="6400800" cy="274320"/>
          </a:xfrm>
          <a:prstGeom prst="rect">
            <a:avLst/>
          </a:prstGeom>
          <a:noFill/>
        </p:spPr>
        <p:txBody>
          <a:bodyPr wrap="square" lIns="0" rIns="0" tIns="0" bIns="0" anchor="t">
            <a:noAutofit/>
          </a:bodyPr>
          <a:lstStyle/>
          <a:p>
            <a:pPr algn="l"/>
            <a:r>
              <a:rPr sz="1200" b="0" i="0">
                <a:solidFill>
                  <a:srgbClr val="64748B"/>
                </a:solidFill>
              </a:rPr>
              <a:t>International Institute of Information Technology, Hyderabad  ·  October 2026</a:t>
            </a:r>
          </a:p>
        </p:txBody>
      </p:sp>
      <p:sp>
        <p:nvSpPr>
          <p:cNvPr id="8" name="Panel: task example"/>
          <p:cNvSpPr/>
          <p:nvPr/>
        </p:nvSpPr>
        <p:spPr>
          <a:xfrm>
            <a:off x="7818120" y="1371600"/>
            <a:ext cx="3794760" cy="3931920"/>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92440" y="1645920"/>
            <a:ext cx="3246120" cy="274320"/>
          </a:xfrm>
          <a:prstGeom prst="rect">
            <a:avLst/>
          </a:prstGeom>
          <a:noFill/>
        </p:spPr>
        <p:txBody>
          <a:bodyPr wrap="square" lIns="0" rIns="0" tIns="0" bIns="0" anchor="t">
            <a:noAutofit/>
          </a:bodyPr>
          <a:lstStyle/>
          <a:p>
            <a:pPr algn="l"/>
            <a:r>
              <a:rPr sz="1100" b="1" i="0">
                <a:solidFill>
                  <a:srgbClr val="2F5D7C"/>
                </a:solidFill>
              </a:rPr>
              <a:t>ONE DEV ITEM</a:t>
            </a:r>
          </a:p>
        </p:txBody>
      </p:sp>
      <p:sp>
        <p:nvSpPr>
          <p:cNvPr id="10" name="TextBox 9"/>
          <p:cNvSpPr txBox="1"/>
          <p:nvPr/>
        </p:nvSpPr>
        <p:spPr>
          <a:xfrm>
            <a:off x="8092440" y="2029967"/>
            <a:ext cx="3246120" cy="777240"/>
          </a:xfrm>
          <a:prstGeom prst="rect">
            <a:avLst/>
          </a:prstGeom>
          <a:noFill/>
        </p:spPr>
        <p:txBody>
          <a:bodyPr wrap="square" lIns="0" rIns="0" tIns="0" bIns="0" anchor="t">
            <a:noAutofit/>
          </a:bodyPr>
          <a:lstStyle/>
          <a:p>
            <a:pPr algn="l"/>
            <a:r>
              <a:rPr sz="1400" b="1" i="0">
                <a:solidFill>
                  <a:srgbClr val="1E293B"/>
                </a:solidFill>
              </a:rPr>
              <a:t>Sub-question</a:t>
            </a:r>
          </a:p>
          <a:p>
            <a:pPr algn="l"/>
            <a:r>
              <a:rPr sz="1400" b="0" i="0">
                <a:solidFill>
                  <a:srgbClr val="1E293B"/>
                </a:solidFill>
              </a:rPr>
              <a:t>Would you campaign against Senator Joe Lieberman on Iraq?</a:t>
            </a:r>
          </a:p>
        </p:txBody>
      </p:sp>
      <p:sp>
        <p:nvSpPr>
          <p:cNvPr id="11" name="TextBox 10"/>
          <p:cNvSpPr txBox="1"/>
          <p:nvPr/>
        </p:nvSpPr>
        <p:spPr>
          <a:xfrm>
            <a:off x="8092440" y="2944368"/>
            <a:ext cx="3246120" cy="548640"/>
          </a:xfrm>
          <a:prstGeom prst="rect">
            <a:avLst/>
          </a:prstGeom>
          <a:noFill/>
        </p:spPr>
        <p:txBody>
          <a:bodyPr wrap="square" lIns="0" rIns="0" tIns="0" bIns="0" anchor="t">
            <a:noAutofit/>
          </a:bodyPr>
          <a:lstStyle/>
          <a:p>
            <a:pPr algn="l"/>
            <a:r>
              <a:rPr sz="1400" b="1" i="0">
                <a:solidFill>
                  <a:srgbClr val="1E293B"/>
                </a:solidFill>
              </a:rPr>
              <a:t>Answer</a:t>
            </a:r>
          </a:p>
          <a:p>
            <a:pPr algn="l"/>
            <a:r>
              <a:rPr sz="1400" b="0" i="0">
                <a:solidFill>
                  <a:srgbClr val="1E293B"/>
                </a:solidFill>
              </a:rPr>
              <a:t>“I’m going to stay out of Connecticut.”</a:t>
            </a:r>
          </a:p>
        </p:txBody>
      </p:sp>
      <p:sp>
        <p:nvSpPr>
          <p:cNvPr id="12" name="TextBox 11"/>
          <p:cNvSpPr txBox="1"/>
          <p:nvPr/>
        </p:nvSpPr>
        <p:spPr>
          <a:xfrm>
            <a:off x="8092440" y="3657600"/>
            <a:ext cx="3246120" cy="548640"/>
          </a:xfrm>
          <a:prstGeom prst="rect">
            <a:avLst/>
          </a:prstGeom>
          <a:noFill/>
        </p:spPr>
        <p:txBody>
          <a:bodyPr wrap="square" lIns="0" rIns="0" tIns="0" bIns="0" anchor="t">
            <a:noAutofit/>
          </a:bodyPr>
          <a:lstStyle/>
          <a:p>
            <a:pPr algn="l"/>
            <a:r>
              <a:rPr sz="1400" b="1" i="0">
                <a:solidFill>
                  <a:srgbClr val="1E293B"/>
                </a:solidFill>
              </a:rPr>
              <a:t>Subtask 2</a:t>
            </a:r>
            <a:r>
              <a:rPr sz="1400" b="0" i="0">
                <a:solidFill>
                  <a:srgbClr val="1E293B"/>
                </a:solidFill>
              </a:rPr>
              <a:t> (9 evasion types)</a:t>
            </a:r>
          </a:p>
          <a:p>
            <a:pPr algn="l"/>
            <a:r>
              <a:rPr sz="1400" b="0" i="0">
                <a:solidFill>
                  <a:srgbClr val="1E293B"/>
                </a:solidFill>
              </a:rPr>
              <a:t>Dodging, Dodging, Implicit</a:t>
            </a:r>
          </a:p>
        </p:txBody>
      </p:sp>
      <p:sp>
        <p:nvSpPr>
          <p:cNvPr id="13" name="TextBox 12"/>
          <p:cNvSpPr txBox="1"/>
          <p:nvPr/>
        </p:nvSpPr>
        <p:spPr>
          <a:xfrm>
            <a:off x="8092440" y="4370831"/>
            <a:ext cx="3246120" cy="548640"/>
          </a:xfrm>
          <a:prstGeom prst="rect">
            <a:avLst/>
          </a:prstGeom>
          <a:noFill/>
        </p:spPr>
        <p:txBody>
          <a:bodyPr wrap="square" lIns="0" rIns="0" tIns="0" bIns="0" anchor="t">
            <a:noAutofit/>
          </a:bodyPr>
          <a:lstStyle/>
          <a:p>
            <a:pPr algn="l"/>
            <a:r>
              <a:rPr sz="1400" b="1" i="0">
                <a:solidFill>
                  <a:srgbClr val="1E293B"/>
                </a:solidFill>
              </a:rPr>
              <a:t>Subtask 1</a:t>
            </a:r>
            <a:r>
              <a:rPr sz="1400" b="0" i="0">
                <a:solidFill>
                  <a:srgbClr val="1E293B"/>
                </a:solidFill>
              </a:rPr>
              <a:t> (3 clarity levels)</a:t>
            </a:r>
          </a:p>
          <a:p>
            <a:pPr algn="l"/>
            <a:r>
              <a:rPr sz="1400" b="0" i="0">
                <a:solidFill>
                  <a:srgbClr val="1E293B"/>
                </a:solidFill>
              </a:rPr>
              <a:t>Ambivalent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Label how an answer responds to one sub-question</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PROBLEM FORMULATION</a:t>
            </a:r>
          </a:p>
        </p:txBody>
      </p:sp>
      <p:sp>
        <p:nvSpPr>
          <p:cNvPr id="4" name="Bullets"/>
          <p:cNvSpPr txBox="1"/>
          <p:nvPr/>
        </p:nvSpPr>
        <p:spPr>
          <a:xfrm>
            <a:off x="548640" y="1417320"/>
            <a:ext cx="4023360" cy="4846320"/>
          </a:xfrm>
          <a:prstGeom prst="rect">
            <a:avLst/>
          </a:prstGeom>
          <a:noFill/>
        </p:spPr>
        <p:txBody>
          <a:bodyPr wrap="square" lIns="0" rIns="0" tIns="0" bIns="0" anchor="ctr">
            <a:noAutofit/>
          </a:bodyPr>
          <a:lstStyle/>
          <a:p>
            <a:pPr marL="246888" indent="-246888">
              <a:lnSpc>
                <a:spcPct val="105000"/>
              </a:lnSpc>
              <a:spcAft>
                <a:spcPts val="1400"/>
              </a:spcAft>
              <a:buClr>
                <a:srgbClr val="2F5D7C"/>
              </a:buClr>
              <a:buFont typeface="Arial"/>
              <a:buChar char="•"/>
            </a:pPr>
            <a:r>
              <a:rPr sz="1800" b="0" i="0">
                <a:solidFill>
                  <a:srgbClr val="1E293B"/>
                </a:solidFill>
              </a:rPr>
              <a:t>Input: sub-question </a:t>
            </a:r>
            <a:r>
              <a:rPr sz="1800" b="1" i="0">
                <a:solidFill>
                  <a:srgbClr val="1E293B"/>
                </a:solidFill>
              </a:rPr>
              <a:t>q</a:t>
            </a:r>
            <a:r>
              <a:rPr sz="1800" b="0" i="0">
                <a:solidFill>
                  <a:srgbClr val="1E293B"/>
                </a:solidFill>
              </a:rPr>
              <a:t> (15 tokens), full question </a:t>
            </a:r>
            <a:r>
              <a:rPr sz="1800" b="1" i="0">
                <a:solidFill>
                  <a:srgbClr val="1E293B"/>
                </a:solidFill>
              </a:rPr>
              <a:t>Q</a:t>
            </a:r>
            <a:r>
              <a:rPr sz="1800" b="0" i="0">
                <a:solidFill>
                  <a:srgbClr val="1E293B"/>
                </a:solidFill>
              </a:rPr>
              <a:t> (62), answer </a:t>
            </a:r>
            <a:r>
              <a:rPr sz="1800" b="1" i="0">
                <a:solidFill>
                  <a:srgbClr val="1E293B"/>
                </a:solidFill>
              </a:rPr>
              <a:t>a</a:t>
            </a:r>
            <a:r>
              <a:rPr sz="1800" b="0" i="0">
                <a:solidFill>
                  <a:srgbClr val="1E293B"/>
                </a:solidFill>
              </a:rPr>
              <a:t> (266).</a:t>
            </a:r>
          </a:p>
          <a:p>
            <a:pPr marL="246888" indent="-246888">
              <a:lnSpc>
                <a:spcPct val="105000"/>
              </a:lnSpc>
              <a:spcAft>
                <a:spcPts val="1400"/>
              </a:spcAft>
              <a:buClr>
                <a:srgbClr val="2F5D7C"/>
              </a:buClr>
              <a:buFont typeface="Arial"/>
              <a:buChar char="•"/>
            </a:pPr>
            <a:r>
              <a:rPr sz="1800" b="0" i="0">
                <a:solidFill>
                  <a:srgbClr val="1E293B"/>
                </a:solidFill>
              </a:rPr>
              <a:t>Subtask 2 predicts one of 9 evasion types; Subtask 1 follows through </a:t>
            </a:r>
            <a:r>
              <a:rPr sz="1800" b="1" i="0">
                <a:solidFill>
                  <a:srgbClr val="1E293B"/>
                </a:solidFill>
              </a:rPr>
              <a:t>g</a:t>
            </a:r>
            <a:r>
              <a:rPr sz="1800" b="0" i="0">
                <a:solidFill>
                  <a:srgbClr val="1E293B"/>
                </a:solidFill>
              </a:rPr>
              <a:t>.</a:t>
            </a:r>
          </a:p>
          <a:p>
            <a:pPr marL="246888" indent="-246888">
              <a:lnSpc>
                <a:spcPct val="105000"/>
              </a:lnSpc>
              <a:spcAft>
                <a:spcPts val="1400"/>
              </a:spcAft>
              <a:buClr>
                <a:srgbClr val="2F5D7C"/>
              </a:buClr>
              <a:buFont typeface="Arial"/>
              <a:buChar char="•"/>
            </a:pPr>
            <a:r>
              <a:rPr sz="1800" b="0" i="0">
                <a:solidFill>
                  <a:srgbClr val="1E293B"/>
                </a:solidFill>
              </a:rPr>
              <a:t>69% of train rows share an answer; 71.7% of those differ in label.</a:t>
            </a:r>
          </a:p>
          <a:p>
            <a:pPr marL="246888" indent="-246888">
              <a:lnSpc>
                <a:spcPct val="105000"/>
              </a:lnSpc>
              <a:spcAft>
                <a:spcPts val="1400"/>
              </a:spcAft>
              <a:buClr>
                <a:srgbClr val="2F5D7C"/>
              </a:buClr>
              <a:buFont typeface="Arial"/>
              <a:buChar char="•"/>
            </a:pPr>
            <a:r>
              <a:rPr sz="1800" b="0" i="0">
                <a:solidFill>
                  <a:srgbClr val="1E293B"/>
                </a:solidFill>
              </a:rPr>
              <a:t>Dev: 308 items, 3 annotators, only 125 unanimous. Test labels never released.</a:t>
            </a:r>
          </a:p>
        </p:txBody>
      </p:sp>
      <p:sp>
        <p:nvSpPr>
          <p:cNvPr id="5" name="Panel"/>
          <p:cNvSpPr/>
          <p:nvPr/>
        </p:nvSpPr>
        <p:spPr>
          <a:xfrm>
            <a:off x="4846320" y="1485900"/>
            <a:ext cx="6793992" cy="4709159"/>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120640" y="1760220"/>
            <a:ext cx="6245352" cy="274320"/>
          </a:xfrm>
          <a:prstGeom prst="rect">
            <a:avLst/>
          </a:prstGeom>
          <a:noFill/>
        </p:spPr>
        <p:txBody>
          <a:bodyPr wrap="square" lIns="0" rIns="0" tIns="0" bIns="0" anchor="t">
            <a:noAutofit/>
          </a:bodyPr>
          <a:lstStyle/>
          <a:p>
            <a:pPr algn="l"/>
            <a:r>
              <a:rPr sz="1200" b="0" i="0">
                <a:solidFill>
                  <a:srgbClr val="64748B"/>
                </a:solidFill>
              </a:rPr>
              <a:t>Input and label maps</a:t>
            </a:r>
          </a:p>
        </p:txBody>
      </p:sp>
      <mc:AlternateContent xmlns:mc="http://schemas.openxmlformats.org/markup-compatibility/2006" xmlns:a14="http://schemas.microsoft.com/office/drawing/2010/main" xmlns:m="http://schemas.openxmlformats.org/officeDocument/2006/math">
        <mc:Choice Requires="a14">
          <p:sp>
            <p:nvSpPr>
              <p:cNvPr id="7" name="Equation maps"/>
              <p:cNvSpPr txBox="1"/>
              <p:nvPr/>
            </p:nvSpPr>
            <p:spPr>
              <a:xfrm>
                <a:off x="5120640" y="2080260"/>
                <a:ext cx="6245352" cy="502920"/>
              </a:xfrm>
              <a:prstGeom prst="rect">
                <a:avLst/>
              </a:prstGeom>
              <a:noFill/>
            </p:spPr>
            <p:txBody>
              <a:bodyPr wrap="square" lIns="0" tIns="0" rIns="0" bIns="0" anchor="ctr">
                <a:noAutofit/>
              </a:bodyPr>
              <a:lstStyle/>
              <a:p>
                <a:pPr algn="l"/>
                <a14:m>
                  <m:oMathPara>
                    <m:oMathParaPr>
                      <m:jc m:val="left"/>
                    </m:oMathParaPr>
                    <m:oMath>
                      <m:r>
                        <a:rPr lang="en-US" sz="2000" i="1">
                          <a:solidFill>
                            <a:srgbClr val="0F172A"/>
                          </a:solidFill>
                          <a:latin typeface="Cambria Math" panose="02040503050406030204" pitchFamily="18" charset="0"/>
                        </a:rPr>
                        <m:t>x</m:t>
                      </m:r>
                      <m:r>
                        <m:rPr>
                          <m:sty m:val="p"/>
                        </m:rPr>
                        <a:rPr lang="en-US" sz="2000" i="0">
                          <a:solidFill>
                            <a:srgbClr val="0F172A"/>
                          </a:solidFill>
                          <a:latin typeface="Cambria Math" panose="02040503050406030204" pitchFamily="18" charset="0"/>
                        </a:rPr>
                        <m:t>=</m:t>
                      </m:r>
                      <m:d>
                        <m:dPr>
                          <m:begChr m:val="("/>
                          <m:endChr m:val=")"/>
                        </m:dPr>
                        <m:e>
                          <m:r>
                            <a:rPr lang="en-US" sz="2000" i="1">
                              <a:solidFill>
                                <a:srgbClr val="0F172A"/>
                              </a:solidFill>
                              <a:latin typeface="Cambria Math" panose="02040503050406030204" pitchFamily="18" charset="0"/>
                            </a:rPr>
                            <m:t>q</m:t>
                          </m:r>
                          <m:r>
                            <m:rPr>
                              <m:sty m:val="p"/>
                            </m:rPr>
                            <a:rPr lang="en-US" sz="2000" i="0">
                              <a:solidFill>
                                <a:srgbClr val="0F172A"/>
                              </a:solidFill>
                              <a:latin typeface="Cambria Math" panose="02040503050406030204" pitchFamily="18" charset="0"/>
                            </a:rPr>
                            <m:t>,</m:t>
                          </m:r>
                          <m:r>
                            <a:rPr lang="en-US" sz="2000" i="1">
                              <a:solidFill>
                                <a:srgbClr val="0F172A"/>
                              </a:solidFill>
                              <a:latin typeface="Cambria Math" panose="02040503050406030204" pitchFamily="18" charset="0"/>
                            </a:rPr>
                            <m:t>Q</m:t>
                          </m:r>
                          <m:r>
                            <m:rPr>
                              <m:sty m:val="p"/>
                            </m:rPr>
                            <a:rPr lang="en-US" sz="2000" i="0">
                              <a:solidFill>
                                <a:srgbClr val="0F172A"/>
                              </a:solidFill>
                              <a:latin typeface="Cambria Math" panose="02040503050406030204" pitchFamily="18" charset="0"/>
                            </a:rPr>
                            <m:t>,</m:t>
                          </m:r>
                          <m:r>
                            <a:rPr lang="en-US" sz="2000" i="1">
                              <a:solidFill>
                                <a:srgbClr val="0F172A"/>
                              </a:solidFill>
                              <a:latin typeface="Cambria Math" panose="02040503050406030204" pitchFamily="18" charset="0"/>
                            </a:rPr>
                            <m:t>a</m:t>
                          </m:r>
                        </m:e>
                      </m:d>
                      <m:r>
                        <m:rPr>
                          <m:sty m:val="p"/>
                        </m:rPr>
                        <a:rPr lang="en-US" sz="2000" i="0">
                          <a:solidFill>
                            <a:srgbClr val="0F172A"/>
                          </a:solidFill>
                          <a:latin typeface="Cambria Math" panose="02040503050406030204" pitchFamily="18" charset="0"/>
                        </a:rPr>
                        <m:t>,   </m:t>
                      </m:r>
                      <m:r>
                        <a:rPr lang="en-US" sz="2000" i="1">
                          <a:solidFill>
                            <a:srgbClr val="0F172A"/>
                          </a:solidFill>
                          <a:latin typeface="Cambria Math" panose="02040503050406030204" pitchFamily="18" charset="0"/>
                        </a:rPr>
                        <m:t>f</m:t>
                      </m:r>
                      <m:r>
                        <m:rPr>
                          <m:sty m:val="p"/>
                        </m:rPr>
                        <a:rPr lang="en-US" sz="2000" i="0">
                          <a:solidFill>
                            <a:srgbClr val="0F172A"/>
                          </a:solidFill>
                          <a:latin typeface="Cambria Math" panose="02040503050406030204" pitchFamily="18" charset="0"/>
                        </a:rPr>
                        <m:t>:</m:t>
                      </m:r>
                      <m:r>
                        <a:rPr lang="en-US" sz="2000" i="1">
                          <a:solidFill>
                            <a:srgbClr val="0F172A"/>
                          </a:solidFill>
                          <a:latin typeface="Cambria Math" panose="02040503050406030204" pitchFamily="18" charset="0"/>
                        </a:rPr>
                        <m:t>𝒳</m:t>
                      </m:r>
                      <m:r>
                        <m:rPr>
                          <m:sty m:val="p"/>
                        </m:rPr>
                        <a:rPr lang="en-US" sz="2000" i="0">
                          <a:solidFill>
                            <a:srgbClr val="0F172A"/>
                          </a:solidFill>
                          <a:latin typeface="Cambria Math" panose="02040503050406030204" pitchFamily="18" charset="0"/>
                        </a:rPr>
                        <m:t>→</m:t>
                      </m:r>
                      <m:sSub>
                        <m:e>
                          <m:r>
                            <a:rPr lang="en-US" sz="2000" i="1">
                              <a:solidFill>
                                <a:srgbClr val="0F172A"/>
                              </a:solidFill>
                              <a:latin typeface="Cambria Math" panose="02040503050406030204" pitchFamily="18" charset="0"/>
                            </a:rPr>
                            <m:t>𝒴</m:t>
                          </m:r>
                        </m:e>
                        <m:sub>
                          <m:r>
                            <m:rPr>
                              <m:sty m:val="p"/>
                            </m:rPr>
                            <a:rPr lang="en-US" sz="2000" i="0">
                              <a:solidFill>
                                <a:srgbClr val="0F172A"/>
                              </a:solidFill>
                              <a:latin typeface="Cambria Math" panose="02040503050406030204" pitchFamily="18" charset="0"/>
                            </a:rPr>
                            <m:t>9</m:t>
                          </m:r>
                        </m:sub>
                      </m:sSub>
                      <m:r>
                        <m:rPr>
                          <m:sty m:val="p"/>
                        </m:rPr>
                        <a:rPr lang="en-US" sz="2000" i="0">
                          <a:solidFill>
                            <a:srgbClr val="0F172A"/>
                          </a:solidFill>
                          <a:latin typeface="Cambria Math" panose="02040503050406030204" pitchFamily="18" charset="0"/>
                        </a:rPr>
                        <m:t>,   </m:t>
                      </m:r>
                      <m:r>
                        <a:rPr lang="en-US" sz="2000" i="1">
                          <a:solidFill>
                            <a:srgbClr val="0F172A"/>
                          </a:solidFill>
                          <a:latin typeface="Cambria Math" panose="02040503050406030204" pitchFamily="18" charset="0"/>
                        </a:rPr>
                        <m:t>g</m:t>
                      </m:r>
                      <m:r>
                        <m:rPr>
                          <m:sty m:val="p"/>
                        </m:rPr>
                        <a:rPr lang="en-US" sz="2000" i="0">
                          <a:solidFill>
                            <a:srgbClr val="0F172A"/>
                          </a:solidFill>
                          <a:latin typeface="Cambria Math" panose="02040503050406030204" pitchFamily="18" charset="0"/>
                        </a:rPr>
                        <m:t>:</m:t>
                      </m:r>
                      <m:sSub>
                        <m:e>
                          <m:r>
                            <a:rPr lang="en-US" sz="2000" i="1">
                              <a:solidFill>
                                <a:srgbClr val="0F172A"/>
                              </a:solidFill>
                              <a:latin typeface="Cambria Math" panose="02040503050406030204" pitchFamily="18" charset="0"/>
                            </a:rPr>
                            <m:t>𝒴</m:t>
                          </m:r>
                        </m:e>
                        <m:sub>
                          <m:r>
                            <m:rPr>
                              <m:sty m:val="p"/>
                            </m:rPr>
                            <a:rPr lang="en-US" sz="2000" i="0">
                              <a:solidFill>
                                <a:srgbClr val="0F172A"/>
                              </a:solidFill>
                              <a:latin typeface="Cambria Math" panose="02040503050406030204" pitchFamily="18" charset="0"/>
                            </a:rPr>
                            <m:t>9</m:t>
                          </m:r>
                        </m:sub>
                      </m:sSub>
                      <m:r>
                        <m:rPr>
                          <m:sty m:val="p"/>
                        </m:rPr>
                        <a:rPr lang="en-US" sz="2000" i="0">
                          <a:solidFill>
                            <a:srgbClr val="0F172A"/>
                          </a:solidFill>
                          <a:latin typeface="Cambria Math" panose="02040503050406030204" pitchFamily="18" charset="0"/>
                        </a:rPr>
                        <m:t>→</m:t>
                      </m:r>
                      <m:sSub>
                        <m:e>
                          <m:r>
                            <a:rPr lang="en-US" sz="2000" i="1">
                              <a:solidFill>
                                <a:srgbClr val="0F172A"/>
                              </a:solidFill>
                              <a:latin typeface="Cambria Math" panose="02040503050406030204" pitchFamily="18" charset="0"/>
                            </a:rPr>
                            <m:t>𝒴</m:t>
                          </m:r>
                        </m:e>
                        <m:sub>
                          <m:r>
                            <m:rPr>
                              <m:sty m:val="p"/>
                            </m:rPr>
                            <a:rPr lang="en-US" sz="2000" i="0">
                              <a:solidFill>
                                <a:srgbClr val="0F172A"/>
                              </a:solidFill>
                              <a:latin typeface="Cambria Math" panose="02040503050406030204" pitchFamily="18" charset="0"/>
                            </a:rPr>
                            <m:t>3</m:t>
                          </m:r>
                        </m:sub>
                      </m:sSub>
                    </m:oMath>
                  </m:oMathPara>
                </a14:m>
                <a:endParaRPr lang="en-US" sz="2000"/>
              </a:p>
            </p:txBody>
          </p:sp>
        </mc:Choice>
        <mc:Fallback>
          <p:pic>
            <p:nvPicPr>
              <p:cNvPr id="7" name="Equation maps (image fallback)" descr="eq_maps.png"/>
              <p:cNvPicPr>
                <a:picLocks noChangeAspect="1"/>
              </p:cNvPicPr>
              <p:nvPr/>
            </p:nvPicPr>
            <p:blipFill>
              <a:blip r:embed="rId3"/>
              <a:stretch>
                <a:fillRect/>
              </a:stretch>
            </p:blipFill>
            <p:spPr>
              <a:xfrm>
                <a:off x="5120640" y="2177796"/>
                <a:ext cx="4270248" cy="307848"/>
              </a:xfrm>
              <a:prstGeom prst="rect">
                <a:avLst/>
              </a:prstGeom>
            </p:spPr>
          </p:pic>
        </mc:Fallback>
      </mc:AlternateContent>
      <p:sp>
        <p:nvSpPr>
          <p:cNvPr id="8" name="TextBox 7"/>
          <p:cNvSpPr txBox="1"/>
          <p:nvPr/>
        </p:nvSpPr>
        <p:spPr>
          <a:xfrm>
            <a:off x="5120640" y="2857500"/>
            <a:ext cx="6245352" cy="274320"/>
          </a:xfrm>
          <a:prstGeom prst="rect">
            <a:avLst/>
          </a:prstGeom>
          <a:noFill/>
        </p:spPr>
        <p:txBody>
          <a:bodyPr wrap="square" lIns="0" rIns="0" tIns="0" bIns="0" anchor="t">
            <a:noAutofit/>
          </a:bodyPr>
          <a:lstStyle/>
          <a:p>
            <a:pPr algn="l"/>
            <a:r>
              <a:rPr sz="1200" b="0" i="0">
                <a:solidFill>
                  <a:srgbClr val="64748B"/>
                </a:solidFill>
              </a:rPr>
              <a:t>Multi-reference macro-F1, when every prediction is in its item's reference set</a:t>
            </a:r>
          </a:p>
        </p:txBody>
      </p:sp>
      <mc:AlternateContent xmlns:mc="http://schemas.openxmlformats.org/markup-compatibility/2006" xmlns:a14="http://schemas.microsoft.com/office/drawing/2010/main" xmlns:m="http://schemas.openxmlformats.org/officeDocument/2006/math">
        <mc:Choice Requires="a14">
          <p:sp>
            <p:nvSpPr>
              <p:cNvPr id="9" name="Equation metric"/>
              <p:cNvSpPr txBox="1"/>
              <p:nvPr/>
            </p:nvSpPr>
            <p:spPr>
              <a:xfrm>
                <a:off x="5120640" y="3177540"/>
                <a:ext cx="6245352" cy="868680"/>
              </a:xfrm>
              <a:prstGeom prst="rect">
                <a:avLst/>
              </a:prstGeom>
              <a:noFill/>
            </p:spPr>
            <p:txBody>
              <a:bodyPr wrap="square" lIns="0" tIns="0" rIns="0" bIns="0" anchor="ctr">
                <a:noAutofit/>
              </a:bodyPr>
              <a:lstStyle/>
              <a:p>
                <a:pPr algn="l"/>
                <a14:m>
                  <m:oMathPara>
                    <m:oMathParaPr>
                      <m:jc m:val="left"/>
                    </m:oMathParaPr>
                    <m:oMath>
                      <m:r>
                        <m:rPr>
                          <m:sty m:val="p"/>
                        </m:rPr>
                        <a:rPr lang="en-US" sz="2000" i="0">
                          <a:solidFill>
                            <a:srgbClr val="0F172A"/>
                          </a:solidFill>
                          <a:latin typeface="Cambria Math" panose="02040503050406030204" pitchFamily="18" charset="0"/>
                        </a:rPr>
                        <m:t>macro-F1</m:t>
                      </m:r>
                      <m:r>
                        <m:rPr>
                          <m:sty m:val="p"/>
                        </m:rPr>
                        <a:rPr lang="en-US" sz="2000" i="0">
                          <a:solidFill>
                            <a:srgbClr val="0F172A"/>
                          </a:solidFill>
                          <a:latin typeface="Cambria Math" panose="02040503050406030204" pitchFamily="18" charset="0"/>
                        </a:rPr>
                        <m:t>=</m:t>
                      </m:r>
                      <m:f>
                        <m:num>
                          <m:d>
                            <m:dPr>
                              <m:begChr m:val="|"/>
                              <m:endChr m:val="|"/>
                            </m:dPr>
                            <m:e>
                              <m:d>
                                <m:dPr>
                                  <m:begChr m:val="{"/>
                                  <m:endChr m:val="}"/>
                                </m:dPr>
                                <m:e>
                                  <m:sSub>
                                    <m:e>
                                      <m:acc>
                                        <m:accPr>
                                          <m:chr m:val="̂"/>
                                        </m:accPr>
                                        <m:e>
                                          <m:r>
                                            <a:rPr lang="en-US" sz="2000" i="1">
                                              <a:solidFill>
                                                <a:srgbClr val="0F172A"/>
                                              </a:solidFill>
                                              <a:latin typeface="Cambria Math" panose="02040503050406030204" pitchFamily="18" charset="0"/>
                                            </a:rPr>
                                            <m:t>y</m:t>
                                          </m:r>
                                        </m:e>
                                      </m:acc>
                                    </m:e>
                                    <m:sub>
                                      <m:r>
                                        <m:rPr>
                                          <m:sty m:val="p"/>
                                        </m:rPr>
                                        <a:rPr lang="en-US" sz="2000" i="0">
                                          <a:solidFill>
                                            <a:srgbClr val="0F172A"/>
                                          </a:solidFill>
                                          <a:latin typeface="Cambria Math" panose="02040503050406030204" pitchFamily="18" charset="0"/>
                                        </a:rPr>
                                        <m:t>1</m:t>
                                      </m:r>
                                    </m:sub>
                                  </m:sSub>
                                  <m:r>
                                    <m:rPr>
                                      <m:sty m:val="p"/>
                                    </m:rPr>
                                    <a:rPr lang="en-US" sz="2000" i="0">
                                      <a:solidFill>
                                        <a:srgbClr val="0F172A"/>
                                      </a:solidFill>
                                      <a:latin typeface="Cambria Math" panose="02040503050406030204" pitchFamily="18" charset="0"/>
                                    </a:rPr>
                                    <m:t>, …, </m:t>
                                  </m:r>
                                  <m:sSub>
                                    <m:e>
                                      <m:acc>
                                        <m:accPr>
                                          <m:chr m:val="̂"/>
                                        </m:accPr>
                                        <m:e>
                                          <m:r>
                                            <a:rPr lang="en-US" sz="2000" i="1">
                                              <a:solidFill>
                                                <a:srgbClr val="0F172A"/>
                                              </a:solidFill>
                                              <a:latin typeface="Cambria Math" panose="02040503050406030204" pitchFamily="18" charset="0"/>
                                            </a:rPr>
                                            <m:t>y</m:t>
                                          </m:r>
                                        </m:e>
                                      </m:acc>
                                    </m:e>
                                    <m:sub>
                                      <m:r>
                                        <a:rPr lang="en-US" sz="2000" i="1">
                                          <a:solidFill>
                                            <a:srgbClr val="0F172A"/>
                                          </a:solidFill>
                                          <a:latin typeface="Cambria Math" panose="02040503050406030204" pitchFamily="18" charset="0"/>
                                        </a:rPr>
                                        <m:t>N</m:t>
                                      </m:r>
                                    </m:sub>
                                  </m:sSub>
                                </m:e>
                              </m:d>
                            </m:e>
                          </m:d>
                        </m:num>
                        <m:den>
                          <m:r>
                            <m:rPr>
                              <m:sty m:val="p"/>
                            </m:rPr>
                            <a:rPr lang="en-US" sz="2000" i="0">
                              <a:solidFill>
                                <a:srgbClr val="0F172A"/>
                              </a:solidFill>
                              <a:latin typeface="Cambria Math" panose="02040503050406030204" pitchFamily="18" charset="0"/>
                            </a:rPr>
                            <m:t>9</m:t>
                          </m:r>
                        </m:den>
                      </m:f>
                    </m:oMath>
                  </m:oMathPara>
                </a14:m>
                <a:endParaRPr lang="en-US" sz="2000"/>
              </a:p>
            </p:txBody>
          </p:sp>
        </mc:Choice>
        <mc:Fallback>
          <p:pic>
            <p:nvPicPr>
              <p:cNvPr id="9" name="Equation metric (image fallback)" descr="eq_metric.png"/>
              <p:cNvPicPr>
                <a:picLocks noChangeAspect="1"/>
              </p:cNvPicPr>
              <p:nvPr/>
            </p:nvPicPr>
            <p:blipFill>
              <a:blip r:embed="rId4"/>
              <a:stretch>
                <a:fillRect/>
              </a:stretch>
            </p:blipFill>
            <p:spPr>
              <a:xfrm>
                <a:off x="5120640" y="3296412"/>
                <a:ext cx="2648712" cy="630936"/>
              </a:xfrm>
              <a:prstGeom prst="rect">
                <a:avLst/>
              </a:prstGeom>
            </p:spPr>
          </p:pic>
        </mc:Fallback>
      </mc:AlternateContent>
      <p:sp>
        <p:nvSpPr>
          <p:cNvPr id="10" name="TextBox 9"/>
          <p:cNvSpPr txBox="1"/>
          <p:nvPr/>
        </p:nvSpPr>
        <p:spPr>
          <a:xfrm>
            <a:off x="5120640" y="4274820"/>
            <a:ext cx="6245352" cy="274320"/>
          </a:xfrm>
          <a:prstGeom prst="rect">
            <a:avLst/>
          </a:prstGeom>
          <a:noFill/>
        </p:spPr>
        <p:txBody>
          <a:bodyPr wrap="square" lIns="0" rIns="0" tIns="0" bIns="0" anchor="t">
            <a:noAutofit/>
          </a:bodyPr>
          <a:lstStyle/>
          <a:p>
            <a:pPr algn="l"/>
            <a:r>
              <a:rPr sz="1200" b="0" i="0">
                <a:solidFill>
                  <a:srgbClr val="64748B"/>
                </a:solidFill>
              </a:rPr>
              <a:t>Decision rule used by every system (τ fitted by nested CV)</a:t>
            </a:r>
          </a:p>
        </p:txBody>
      </p:sp>
      <mc:AlternateContent xmlns:mc="http://schemas.openxmlformats.org/markup-compatibility/2006" xmlns:a14="http://schemas.microsoft.com/office/drawing/2010/main" xmlns:m="http://schemas.openxmlformats.org/officeDocument/2006/math">
        <mc:Choice Requires="a14">
          <p:sp>
            <p:nvSpPr>
              <p:cNvPr id="11" name="Equation rule"/>
              <p:cNvSpPr txBox="1"/>
              <p:nvPr/>
            </p:nvSpPr>
            <p:spPr>
              <a:xfrm>
                <a:off x="5120640" y="4594860"/>
                <a:ext cx="6245352" cy="868680"/>
              </a:xfrm>
              <a:prstGeom prst="rect">
                <a:avLst/>
              </a:prstGeom>
              <a:noFill/>
            </p:spPr>
            <p:txBody>
              <a:bodyPr wrap="square" lIns="0" tIns="0" rIns="0" bIns="0" anchor="ctr">
                <a:noAutofit/>
              </a:bodyPr>
              <a:lstStyle/>
              <a:p>
                <a:pPr algn="l"/>
                <a14:m>
                  <m:oMathPara>
                    <m:oMathParaPr>
                      <m:jc m:val="left"/>
                    </m:oMathParaPr>
                    <m:oMath>
                      <m:acc>
                        <m:accPr>
                          <m:chr m:val="̂"/>
                        </m:accPr>
                        <m:e>
                          <m:r>
                            <a:rPr lang="en-US" sz="2000" i="1">
                              <a:solidFill>
                                <a:srgbClr val="0F172A"/>
                              </a:solidFill>
                              <a:latin typeface="Cambria Math" panose="02040503050406030204" pitchFamily="18" charset="0"/>
                            </a:rPr>
                            <m:t>y</m:t>
                          </m:r>
                        </m:e>
                      </m:acc>
                      <m:d>
                        <m:dPr>
                          <m:begChr m:val="("/>
                          <m:endChr m:val=")"/>
                        </m:dPr>
                        <m:e>
                          <m:r>
                            <a:rPr lang="en-US" sz="2000" i="1">
                              <a:solidFill>
                                <a:srgbClr val="0F172A"/>
                              </a:solidFill>
                              <a:latin typeface="Cambria Math" panose="02040503050406030204" pitchFamily="18" charset="0"/>
                            </a:rPr>
                            <m:t>x</m:t>
                          </m:r>
                        </m:e>
                      </m:d>
                      <m:r>
                        <m:rPr>
                          <m:sty m:val="p"/>
                        </m:rPr>
                        <a:rPr lang="en-US" sz="2000" i="0">
                          <a:solidFill>
                            <a:srgbClr val="0F172A"/>
                          </a:solidFill>
                          <a:latin typeface="Cambria Math" panose="02040503050406030204" pitchFamily="18" charset="0"/>
                        </a:rPr>
                        <m:t>=</m:t>
                      </m:r>
                      <m:func>
                        <m:fName>
                          <m:limLow>
                            <m:e>
                              <m:r>
                                <m:rPr>
                                  <m:sty m:val="p"/>
                                </m:rPr>
                                <a:rPr lang="en-US" sz="2000" i="0">
                                  <a:solidFill>
                                    <a:srgbClr val="0F172A"/>
                                  </a:solidFill>
                                  <a:latin typeface="Cambria Math" panose="02040503050406030204" pitchFamily="18" charset="0"/>
                                </a:rPr>
                                <m:t>arg max</m:t>
                              </m:r>
                            </m:e>
                            <m:lim>
                              <m:r>
                                <a:rPr lang="en-US" sz="2000" i="1">
                                  <a:solidFill>
                                    <a:srgbClr val="0F172A"/>
                                  </a:solidFill>
                                  <a:latin typeface="Cambria Math" panose="02040503050406030204" pitchFamily="18" charset="0"/>
                                </a:rPr>
                                <m:t>c</m:t>
                              </m:r>
                            </m:lim>
                          </m:limLow>
                        </m:fName>
                        <m:e>
                          <m:f>
                            <m:num>
                              <m:acc>
                                <m:accPr>
                                  <m:chr m:val="̅"/>
                                </m:accPr>
                                <m:e>
                                  <m:r>
                                    <a:rPr lang="en-US" sz="2000" i="1">
                                      <a:solidFill>
                                        <a:srgbClr val="0F172A"/>
                                      </a:solidFill>
                                      <a:latin typeface="Cambria Math" panose="02040503050406030204" pitchFamily="18" charset="0"/>
                                    </a:rPr>
                                    <m:t>p</m:t>
                                  </m:r>
                                </m:e>
                              </m:acc>
                              <m:d>
                                <m:dPr>
                                  <m:begChr m:val="("/>
                                  <m:endChr m:val=")"/>
                                </m:dPr>
                                <m:e>
                                  <m:r>
                                    <a:rPr lang="en-US" sz="2000" i="1">
                                      <a:solidFill>
                                        <a:srgbClr val="0F172A"/>
                                      </a:solidFill>
                                      <a:latin typeface="Cambria Math" panose="02040503050406030204" pitchFamily="18" charset="0"/>
                                    </a:rPr>
                                    <m:t>c</m:t>
                                  </m:r>
                                  <m:r>
                                    <m:rPr>
                                      <m:sty m:val="p"/>
                                    </m:rPr>
                                    <a:rPr lang="en-US" sz="2000" i="0">
                                      <a:solidFill>
                                        <a:srgbClr val="0F172A"/>
                                      </a:solidFill>
                                      <a:latin typeface="Cambria Math" panose="02040503050406030204" pitchFamily="18" charset="0"/>
                                    </a:rPr>
                                    <m:t> | </m:t>
                                  </m:r>
                                  <m:r>
                                    <a:rPr lang="en-US" sz="2000" i="1">
                                      <a:solidFill>
                                        <a:srgbClr val="0F172A"/>
                                      </a:solidFill>
                                      <a:latin typeface="Cambria Math" panose="02040503050406030204" pitchFamily="18" charset="0"/>
                                    </a:rPr>
                                    <m:t>x</m:t>
                                  </m:r>
                                </m:e>
                              </m:d>
                            </m:num>
                            <m:den>
                              <m:sSubSup>
                                <m:e>
                                  <m:r>
                                    <a:rPr lang="en-US" sz="2000" i="1">
                                      <a:solidFill>
                                        <a:srgbClr val="0F172A"/>
                                      </a:solidFill>
                                      <a:latin typeface="Cambria Math" panose="02040503050406030204" pitchFamily="18" charset="0"/>
                                    </a:rPr>
                                    <m:t>π</m:t>
                                  </m:r>
                                </m:e>
                                <m:sub>
                                  <m:r>
                                    <a:rPr lang="en-US" sz="2000" i="1">
                                      <a:solidFill>
                                        <a:srgbClr val="0F172A"/>
                                      </a:solidFill>
                                      <a:latin typeface="Cambria Math" panose="02040503050406030204" pitchFamily="18" charset="0"/>
                                    </a:rPr>
                                    <m:t>c</m:t>
                                  </m:r>
                                </m:sub>
                                <m:sup>
                                  <m:r>
                                    <a:rPr lang="en-US" sz="2000" i="1">
                                      <a:solidFill>
                                        <a:srgbClr val="0F172A"/>
                                      </a:solidFill>
                                      <a:latin typeface="Cambria Math" panose="02040503050406030204" pitchFamily="18" charset="0"/>
                                    </a:rPr>
                                    <m:t>τ</m:t>
                                  </m:r>
                                </m:sup>
                              </m:sSubSup>
                            </m:den>
                          </m:f>
                        </m:e>
                      </m:func>
                    </m:oMath>
                  </m:oMathPara>
                </a14:m>
                <a:endParaRPr lang="en-US" sz="2000"/>
              </a:p>
            </p:txBody>
          </p:sp>
        </mc:Choice>
        <mc:Fallback>
          <p:pic>
            <p:nvPicPr>
              <p:cNvPr id="11" name="Equation rule (image fallback)" descr="eq_rule.png"/>
              <p:cNvPicPr>
                <a:picLocks noChangeAspect="1"/>
              </p:cNvPicPr>
              <p:nvPr/>
            </p:nvPicPr>
            <p:blipFill>
              <a:blip r:embed="rId5"/>
              <a:stretch>
                <a:fillRect/>
              </a:stretch>
            </p:blipFill>
            <p:spPr>
              <a:xfrm>
                <a:off x="5120640" y="4683252"/>
                <a:ext cx="2346960" cy="691896"/>
              </a:xfrm>
              <a:prstGeom prst="rect">
                <a:avLst/>
              </a:prstGeom>
            </p:spPr>
          </p:pic>
        </mc:Fallback>
      </mc:AlternateContent>
      <p:sp>
        <p:nvSpPr>
          <p:cNvPr id="12" name="Caption"/>
          <p:cNvSpPr txBox="1"/>
          <p:nvPr/>
        </p:nvSpPr>
        <p:spPr>
          <a:xfrm>
            <a:off x="5120640" y="5554980"/>
            <a:ext cx="6245352" cy="384048"/>
          </a:xfrm>
          <a:prstGeom prst="rect">
            <a:avLst/>
          </a:prstGeom>
          <a:noFill/>
        </p:spPr>
        <p:txBody>
          <a:bodyPr wrap="square" lIns="0" rIns="0" tIns="0" bIns="0" anchor="t">
            <a:noAutofit/>
          </a:bodyPr>
          <a:lstStyle/>
          <a:p>
            <a:pPr algn="l"/>
            <a:r>
              <a:rPr sz="1100" b="0" i="1">
                <a:solidFill>
                  <a:srgbClr val="64748B"/>
                </a:solidFill>
              </a:rPr>
              <a:t>Clarification (4 dev reference sets) therefore weighs as much as Explicit (115): the score rewards landing in-set and naming every class.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Encoders plateau; the winners call an LLM per item</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BASELINES AND STATE OF THE ART</a:t>
            </a:r>
          </a:p>
        </p:txBody>
      </p:sp>
      <p:sp>
        <p:nvSpPr>
          <p:cNvPr id="4" name="Bullets"/>
          <p:cNvSpPr txBox="1"/>
          <p:nvPr/>
        </p:nvSpPr>
        <p:spPr>
          <a:xfrm>
            <a:off x="548640" y="1417320"/>
            <a:ext cx="4023360" cy="4846320"/>
          </a:xfrm>
          <a:prstGeom prst="rect">
            <a:avLst/>
          </a:prstGeom>
          <a:noFill/>
        </p:spPr>
        <p:txBody>
          <a:bodyPr wrap="square" lIns="0" rIns="0" tIns="0" bIns="0" anchor="ctr">
            <a:noAutofit/>
          </a:bodyPr>
          <a:lstStyle/>
          <a:p>
            <a:pPr marL="246888" indent="-246888">
              <a:lnSpc>
                <a:spcPct val="105000"/>
              </a:lnSpc>
              <a:spcAft>
                <a:spcPts val="1400"/>
              </a:spcAft>
              <a:buClr>
                <a:srgbClr val="2F5D7C"/>
              </a:buClr>
              <a:buFont typeface="Arial"/>
              <a:buChar char="•"/>
            </a:pPr>
            <a:r>
              <a:rPr sz="1800" b="0" i="0">
                <a:solidFill>
                  <a:srgbClr val="1E293B"/>
                </a:solidFill>
              </a:rPr>
              <a:t>Fine-tuned encoders plateau near 0.50 test S2, whatever their size or ensembling.</a:t>
            </a:r>
          </a:p>
          <a:p>
            <a:pPr marL="246888" indent="-246888">
              <a:lnSpc>
                <a:spcPct val="105000"/>
              </a:lnSpc>
              <a:spcAft>
                <a:spcPts val="1400"/>
              </a:spcAft>
              <a:buClr>
                <a:srgbClr val="2F5D7C"/>
              </a:buClr>
              <a:buFont typeface="Arial"/>
              <a:buChar char="•"/>
            </a:pPr>
            <a:r>
              <a:rPr sz="1800" b="0" i="0">
                <a:solidFill>
                  <a:srgbClr val="1E293B"/>
                </a:solidFill>
              </a:rPr>
              <a:t>Winners run multi-call LLM pipelines: 1.94 calls, ~7,300 input tokens per item.</a:t>
            </a:r>
          </a:p>
          <a:p>
            <a:pPr marL="246888" indent="-246888">
              <a:lnSpc>
                <a:spcPct val="105000"/>
              </a:lnSpc>
              <a:spcAft>
                <a:spcPts val="1400"/>
              </a:spcAft>
              <a:buClr>
                <a:srgbClr val="2F5D7C"/>
              </a:buClr>
              <a:buFont typeface="Arial"/>
              <a:buChar char="•"/>
            </a:pPr>
            <a:r>
              <a:rPr sz="1800" b="0" i="0">
                <a:solidFill>
                  <a:srgbClr val="1E293B"/>
                </a:solidFill>
              </a:rPr>
              <a:t>Published systems change several components at once; gains cannot be attributed.</a:t>
            </a:r>
          </a:p>
          <a:p>
            <a:pPr marL="246888" indent="-246888">
              <a:lnSpc>
                <a:spcPct val="105000"/>
              </a:lnSpc>
              <a:spcAft>
                <a:spcPts val="1400"/>
              </a:spcAft>
              <a:buClr>
                <a:srgbClr val="2F5D7C"/>
              </a:buClr>
              <a:buFont typeface="Arial"/>
              <a:buChar char="•"/>
            </a:pPr>
            <a:r>
              <a:rPr sz="1800" b="0" i="0">
                <a:solidFill>
                  <a:srgbClr val="1E293B"/>
                </a:solidFill>
              </a:rPr>
              <a:t>Our question: what limits a </a:t>
            </a:r>
            <a:r>
              <a:rPr sz="1800" b="1" i="0">
                <a:solidFill>
                  <a:srgbClr val="1E293B"/>
                </a:solidFill>
              </a:rPr>
              <a:t>single-pass</a:t>
            </a:r>
            <a:r>
              <a:rPr sz="1800" b="0" i="0">
                <a:solidFill>
                  <a:srgbClr val="1E293B"/>
                </a:solidFill>
              </a:rPr>
              <a:t> classifier on this task?</a:t>
            </a:r>
          </a:p>
        </p:txBody>
      </p:sp>
      <p:sp>
        <p:nvSpPr>
          <p:cNvPr id="5" name="Panel"/>
          <p:cNvSpPr/>
          <p:nvPr/>
        </p:nvSpPr>
        <p:spPr>
          <a:xfrm>
            <a:off x="4846320" y="1659636"/>
            <a:ext cx="6793992" cy="4361688"/>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6" name="Table"/>
          <p:cNvGraphicFramePr>
            <a:graphicFrameLocks noGrp="1"/>
          </p:cNvGraphicFramePr>
          <p:nvPr/>
        </p:nvGraphicFramePr>
        <p:xfrm>
          <a:off x="5120640" y="1933956"/>
          <a:ext cx="6245352" cy="3291840"/>
        </p:xfrm>
        <a:graphic>
          <a:graphicData uri="http://schemas.openxmlformats.org/drawingml/2006/table">
            <a:tbl>
              <a:tblPr firstRow="0" bandRow="0">
                <a:tableStyleId>{2D5ABB26-0587-4C30-8999-92F81FD0307C}</a:tableStyleId>
              </a:tblPr>
              <a:tblGrid>
                <a:gridCol w="3200400"/>
                <a:gridCol w="1508760"/>
                <a:gridCol w="768096"/>
                <a:gridCol w="768096"/>
              </a:tblGrid>
              <a:tr h="365760">
                <a:tc>
                  <a:txBody>
                    <a:bodyPr wrap="square"/>
                    <a:lstStyle/>
                    <a:p>
                      <a:pPr algn="l"/>
                      <a:r>
                        <a:rPr sz="1300" b="1" i="0">
                          <a:solidFill>
                            <a:srgbClr val="0F172A"/>
                          </a:solidFill>
                        </a:rPr>
                        <a:t>System (dev set)</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l"/>
                      <a:r>
                        <a:rPr sz="1300" b="1" i="0">
                          <a:solidFill>
                            <a:srgbClr val="0F172A"/>
                          </a:solidFill>
                        </a:rPr>
                        <a:t>Type</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r"/>
                      <a:r>
                        <a:rPr sz="1300" b="1" i="0">
                          <a:solidFill>
                            <a:srgbClr val="0F172A"/>
                          </a:solidFill>
                        </a:rPr>
                        <a:t>S2</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r"/>
                      <a:r>
                        <a:rPr sz="1300" b="1" i="0">
                          <a:solidFill>
                            <a:srgbClr val="0F172A"/>
                          </a:solidFill>
                        </a:rPr>
                        <a:t>S1</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r>
              <a:tr h="365760">
                <a:tc>
                  <a:txBody>
                    <a:bodyPr wrap="square"/>
                    <a:lstStyle/>
                    <a:p>
                      <a:pPr algn="l"/>
                      <a:r>
                        <a:rPr sz="1300" b="0" i="0">
                          <a:solidFill>
                            <a:srgbClr val="1E293B"/>
                          </a:solidFill>
                        </a:rPr>
                        <a:t>Always “Explicit”</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l"/>
                      <a:r>
                        <a:rPr sz="1300" b="0" i="0">
                          <a:solidFill>
                            <a:srgbClr val="1E293B"/>
                          </a:solidFill>
                        </a:rPr>
                        <a:t>floor</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300" b="0" i="0">
                          <a:solidFill>
                            <a:srgbClr val="1E293B"/>
                          </a:solidFill>
                        </a:rPr>
                        <a:t>0.060</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300" b="0" i="0">
                          <a:solidFill>
                            <a:srgbClr val="1E293B"/>
                          </a:solidFill>
                        </a:rPr>
                        <a:t>0.136</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r h="365760">
                <a:tc>
                  <a:txBody>
                    <a:bodyPr wrap="square"/>
                    <a:lstStyle/>
                    <a:p>
                      <a:pPr algn="l"/>
                      <a:r>
                        <a:rPr sz="1300" b="0" i="0">
                          <a:solidFill>
                            <a:srgbClr val="1E293B"/>
                          </a:solidFill>
                        </a:rPr>
                        <a:t>Uniform random</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l"/>
                      <a:r>
                        <a:rPr sz="1300" b="0" i="0">
                          <a:solidFill>
                            <a:srgbClr val="1E293B"/>
                          </a:solidFill>
                        </a:rPr>
                        <a:t>floor</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300" b="0" i="0">
                          <a:solidFill>
                            <a:srgbClr val="1E293B"/>
                          </a:solidFill>
                        </a:rPr>
                        <a:t>0.129</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300" b="0" i="0">
                          <a:solidFill>
                            <a:srgbClr val="1E293B"/>
                          </a:solidFill>
                        </a:rPr>
                        <a:t>0.299</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r>
              <a:tr h="365760">
                <a:tc>
                  <a:txBody>
                    <a:bodyPr wrap="square"/>
                    <a:lstStyle/>
                    <a:p>
                      <a:pPr algn="l"/>
                      <a:r>
                        <a:rPr sz="1300" b="0" i="0">
                          <a:solidFill>
                            <a:srgbClr val="1E293B"/>
                          </a:solidFill>
                        </a:rPr>
                        <a:t>TF-IDF + logistic regression</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l"/>
                      <a:r>
                        <a:rPr sz="1300" b="0" i="0">
                          <a:solidFill>
                            <a:srgbClr val="1E293B"/>
                          </a:solidFill>
                        </a:rPr>
                        <a:t>classical</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300" b="0" i="0">
                          <a:solidFill>
                            <a:srgbClr val="1E293B"/>
                          </a:solidFill>
                        </a:rPr>
                        <a:t>0.257</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300" b="0" i="0">
                          <a:solidFill>
                            <a:srgbClr val="1E293B"/>
                          </a:solidFill>
                        </a:rPr>
                        <a:t>0.445</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r h="365760">
                <a:tc>
                  <a:txBody>
                    <a:bodyPr wrap="square"/>
                    <a:lstStyle/>
                    <a:p>
                      <a:pPr algn="l"/>
                      <a:r>
                        <a:rPr sz="1300" b="0" i="0">
                          <a:solidFill>
                            <a:srgbClr val="1E293B"/>
                          </a:solidFill>
                        </a:rPr>
                        <a:t>ChulaNLP, DeBERTa-large fine-tune</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l"/>
                      <a:r>
                        <a:rPr sz="1300" b="0" i="0">
                          <a:solidFill>
                            <a:srgbClr val="1E293B"/>
                          </a:solidFill>
                        </a:rPr>
                        <a:t>encoder</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300" b="0" i="0">
                          <a:solidFill>
                            <a:srgbClr val="1E293B"/>
                          </a:solidFill>
                        </a:rPr>
                        <a:t>0.46</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300" b="0" i="0">
                          <a:solidFill>
                            <a:srgbClr val="1E293B"/>
                          </a:solidFill>
                        </a:rPr>
                        <a:t>0.65</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r>
              <a:tr h="365760">
                <a:tc>
                  <a:txBody>
                    <a:bodyPr wrap="square"/>
                    <a:lstStyle/>
                    <a:p>
                      <a:pPr algn="l"/>
                      <a:r>
                        <a:rPr sz="1300" b="0" i="0">
                          <a:solidFill>
                            <a:srgbClr val="1E293B"/>
                          </a:solidFill>
                        </a:rPr>
                        <a:t>TeleAI, Qwen2.5-7B fine-tune</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l"/>
                      <a:r>
                        <a:rPr sz="1300" b="0" i="0">
                          <a:solidFill>
                            <a:srgbClr val="1E293B"/>
                          </a:solidFill>
                        </a:rPr>
                        <a:t>single-pass LLM</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300" b="0" i="0">
                          <a:solidFill>
                            <a:srgbClr val="1E293B"/>
                          </a:solidFill>
                        </a:rPr>
                        <a:t>0.495</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300" b="0" i="0">
                          <a:solidFill>
                            <a:srgbClr val="1E293B"/>
                          </a:solidFill>
                        </a:rPr>
                        <a:t>–</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r h="365760">
                <a:tc>
                  <a:txBody>
                    <a:bodyPr wrap="square"/>
                    <a:lstStyle/>
                    <a:p>
                      <a:pPr algn="l"/>
                      <a:r>
                        <a:rPr sz="1300" b="0" i="0">
                          <a:solidFill>
                            <a:srgbClr val="1E293B"/>
                          </a:solidFill>
                        </a:rPr>
                        <a:t>ChulaNLP, DeBERTa top-5 + Kimi-K2</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l"/>
                      <a:r>
                        <a:rPr sz="1300" b="0" i="0">
                          <a:solidFill>
                            <a:srgbClr val="1E293B"/>
                          </a:solidFill>
                        </a:rPr>
                        <a:t>hybrid</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300" b="0" i="0">
                          <a:solidFill>
                            <a:srgbClr val="1E293B"/>
                          </a:solidFill>
                        </a:rPr>
                        <a:t>0.52</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300" b="0" i="0">
                          <a:solidFill>
                            <a:srgbClr val="1E293B"/>
                          </a:solidFill>
                        </a:rPr>
                        <a:t>–</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r>
              <a:tr h="365760">
                <a:tc>
                  <a:txBody>
                    <a:bodyPr wrap="square"/>
                    <a:lstStyle/>
                    <a:p>
                      <a:pPr algn="l"/>
                      <a:r>
                        <a:rPr sz="1300" b="0" i="0">
                          <a:solidFill>
                            <a:srgbClr val="1E293B"/>
                          </a:solidFill>
                        </a:rPr>
                        <a:t>TeleAI, 3-stage DeepSeek-V3 (1st)</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l"/>
                      <a:r>
                        <a:rPr sz="1300" b="0" i="0">
                          <a:solidFill>
                            <a:srgbClr val="1E293B"/>
                          </a:solidFill>
                        </a:rPr>
                        <a:t>multi-call LLM</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300" b="0" i="0">
                          <a:solidFill>
                            <a:srgbClr val="1E293B"/>
                          </a:solidFill>
                        </a:rPr>
                        <a:t>0.617</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300" b="0" i="0">
                          <a:solidFill>
                            <a:srgbClr val="1E293B"/>
                          </a:solidFill>
                        </a:rPr>
                        <a:t>0.812</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r h="365760">
                <a:tc>
                  <a:txBody>
                    <a:bodyPr wrap="square"/>
                    <a:lstStyle/>
                    <a:p>
                      <a:pPr algn="l"/>
                      <a:r>
                        <a:rPr sz="1300" b="0" i="0">
                          <a:solidFill>
                            <a:srgbClr val="1E293B"/>
                          </a:solidFill>
                        </a:rPr>
                        <a:t>Human annotator vs. other two</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l"/>
                      <a:r>
                        <a:rPr sz="1300" b="0" i="0">
                          <a:solidFill>
                            <a:srgbClr val="1E293B"/>
                          </a:solidFill>
                        </a:rPr>
                        <a:t>ceiling</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300" b="0" i="0">
                          <a:solidFill>
                            <a:srgbClr val="1E293B"/>
                          </a:solidFill>
                        </a:rPr>
                        <a:t>0.684</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300" b="0" i="0">
                          <a:solidFill>
                            <a:srgbClr val="1E293B"/>
                          </a:solidFill>
                        </a:rPr>
                        <a:t>–</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r>
            </a:tbl>
          </a:graphicData>
        </a:graphic>
      </p:graphicFrame>
      <p:sp>
        <p:nvSpPr>
          <p:cNvPr id="7" name="Caption"/>
          <p:cNvSpPr txBox="1"/>
          <p:nvPr/>
        </p:nvSpPr>
        <p:spPr>
          <a:xfrm>
            <a:off x="5120640" y="5362956"/>
            <a:ext cx="6245352" cy="384048"/>
          </a:xfrm>
          <a:prstGeom prst="rect">
            <a:avLst/>
          </a:prstGeom>
          <a:noFill/>
        </p:spPr>
        <p:txBody>
          <a:bodyPr wrap="square" lIns="0" rIns="0" tIns="0" bIns="0" anchor="t">
            <a:noAutofit/>
          </a:bodyPr>
          <a:lstStyle/>
          <a:p>
            <a:pPr algn="l"/>
            <a:r>
              <a:rPr sz="1100" b="0" i="1">
                <a:solidFill>
                  <a:srgbClr val="64748B"/>
                </a:solidFill>
              </a:rPr>
              <a:t>Floors: docs/raw/mideval/trivial_baselines.csv. Published rows are dev scores from each team's paper, under their own protocols.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One classifier, one swappable backbone, one fitted scalar</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PROPOSED ARCHITECTURE</a:t>
            </a:r>
          </a:p>
        </p:txBody>
      </p:sp>
      <p:sp>
        <p:nvSpPr>
          <p:cNvPr id="4" name="Bullets"/>
          <p:cNvSpPr txBox="1"/>
          <p:nvPr/>
        </p:nvSpPr>
        <p:spPr>
          <a:xfrm>
            <a:off x="548640" y="1417320"/>
            <a:ext cx="4023360" cy="4846320"/>
          </a:xfrm>
          <a:prstGeom prst="rect">
            <a:avLst/>
          </a:prstGeom>
          <a:noFill/>
        </p:spPr>
        <p:txBody>
          <a:bodyPr wrap="square" lIns="0" rIns="0" tIns="0" bIns="0" anchor="ctr">
            <a:noAutofit/>
          </a:bodyPr>
          <a:lstStyle/>
          <a:p>
            <a:pPr marL="246888" indent="-246888">
              <a:lnSpc>
                <a:spcPct val="105000"/>
              </a:lnSpc>
              <a:spcAft>
                <a:spcPts val="1400"/>
              </a:spcAft>
              <a:buClr>
                <a:srgbClr val="2F5D7C"/>
              </a:buClr>
              <a:buFont typeface="Arial"/>
              <a:buChar char="•"/>
            </a:pPr>
            <a:r>
              <a:rPr sz="1800" b="0" i="0">
                <a:solidFill>
                  <a:srgbClr val="1E293B"/>
                </a:solidFill>
              </a:rPr>
              <a:t>Four candidate limits: label noise, decision rule, knowledge, or label meaning.</a:t>
            </a:r>
          </a:p>
          <a:p>
            <a:pPr marL="246888" indent="-246888">
              <a:lnSpc>
                <a:spcPct val="105000"/>
              </a:lnSpc>
              <a:spcAft>
                <a:spcPts val="1400"/>
              </a:spcAft>
              <a:buClr>
                <a:srgbClr val="2F5D7C"/>
              </a:buClr>
              <a:buFont typeface="Arial"/>
              <a:buChar char="•"/>
            </a:pPr>
            <a:r>
              <a:rPr sz="1800" b="0" i="0">
                <a:solidFill>
                  <a:srgbClr val="1E293B"/>
                </a:solidFill>
              </a:rPr>
              <a:t>One flat 9-way head; Subtask 1 derived through the fixed taxonomy </a:t>
            </a:r>
            <a:r>
              <a:rPr sz="1800" b="1" i="0">
                <a:solidFill>
                  <a:srgbClr val="1E293B"/>
                </a:solidFill>
              </a:rPr>
              <a:t>g</a:t>
            </a:r>
            <a:r>
              <a:rPr sz="1800" b="0" i="0">
                <a:solidFill>
                  <a:srgbClr val="1E293B"/>
                </a:solidFill>
              </a:rPr>
              <a:t>.</a:t>
            </a:r>
          </a:p>
          <a:p>
            <a:pPr marL="246888" indent="-246888">
              <a:lnSpc>
                <a:spcPct val="105000"/>
              </a:lnSpc>
              <a:spcAft>
                <a:spcPts val="1400"/>
              </a:spcAft>
              <a:buClr>
                <a:srgbClr val="2F5D7C"/>
              </a:buClr>
              <a:buFont typeface="Arial"/>
              <a:buChar char="•"/>
            </a:pPr>
            <a:r>
              <a:rPr sz="1800" b="0" i="0">
                <a:solidFill>
                  <a:srgbClr val="1E293B"/>
                </a:solidFill>
              </a:rPr>
              <a:t>System = 10-seed probability mean + one-parameter logit adjustment.</a:t>
            </a:r>
          </a:p>
          <a:p>
            <a:pPr marL="246888" indent="-246888">
              <a:lnSpc>
                <a:spcPct val="105000"/>
              </a:lnSpc>
              <a:spcAft>
                <a:spcPts val="1400"/>
              </a:spcAft>
              <a:buClr>
                <a:srgbClr val="2F5D7C"/>
              </a:buClr>
              <a:buFont typeface="Arial"/>
              <a:buChar char="•"/>
            </a:pPr>
            <a:r>
              <a:rPr sz="1800" b="0" i="0">
                <a:solidFill>
                  <a:srgbClr val="1E293B"/>
                </a:solidFill>
              </a:rPr>
              <a:t>Swappable backbone tests knowledge with everything else held fixed.</a:t>
            </a:r>
          </a:p>
        </p:txBody>
      </p:sp>
      <p:sp>
        <p:nvSpPr>
          <p:cNvPr id="5" name="Panel"/>
          <p:cNvSpPr/>
          <p:nvPr/>
        </p:nvSpPr>
        <p:spPr>
          <a:xfrm>
            <a:off x="4846320" y="1417320"/>
            <a:ext cx="6793992" cy="4846320"/>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nvGrpSpPr>
          <p:cNvPr id="6" name="Diagram: system (Report Figure 1)"/>
          <p:cNvGrpSpPr/>
          <p:nvPr/>
        </p:nvGrpSpPr>
        <p:grpSpPr>
          <a:xfrm>
            <a:off x="5166359" y="1664208"/>
            <a:ext cx="6153913" cy="3931920"/>
            <a:chOff x="5166359" y="1664208"/>
            <a:chExt cx="6153913" cy="3931920"/>
          </a:xfrm>
        </p:grpSpPr>
        <p:sp>
          <p:nvSpPr>
            <p:cNvPr id="7" name="Rounded Rectangle 6"/>
            <p:cNvSpPr/>
            <p:nvPr/>
          </p:nvSpPr>
          <p:spPr>
            <a:xfrm>
              <a:off x="5166359" y="1664208"/>
              <a:ext cx="6153912" cy="457200"/>
            </a:xfrm>
            <a:prstGeom prst="roundRect">
              <a:avLst>
                <a:gd name="adj" fmla="val 12000"/>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100" b="1" i="0">
                  <a:solidFill>
                    <a:srgbClr val="0F172A"/>
                  </a:solidFill>
                </a:rPr>
                <a:t>Input  x = (q, Q, a)</a:t>
              </a:r>
            </a:p>
            <a:p>
              <a:pPr algn="ctr"/>
              <a:r>
                <a:rPr sz="1100" b="0" i="0">
                  <a:solidFill>
                    <a:srgbClr val="1E293B"/>
                  </a:solidFill>
                </a:rPr>
                <a:t>sub-question + full question + answer, ≤ 1,024 tokens</a:t>
              </a:r>
            </a:p>
          </p:txBody>
        </p:sp>
        <p:sp>
          <p:nvSpPr>
            <p:cNvPr id="8" name="TextBox 7"/>
            <p:cNvSpPr txBox="1"/>
            <p:nvPr/>
          </p:nvSpPr>
          <p:spPr>
            <a:xfrm>
              <a:off x="5166359" y="2157984"/>
              <a:ext cx="1828800" cy="237744"/>
            </a:xfrm>
            <a:prstGeom prst="rect">
              <a:avLst/>
            </a:prstGeom>
            <a:noFill/>
          </p:spPr>
          <p:txBody>
            <a:bodyPr wrap="square" lIns="0" rIns="0" tIns="0" bIns="0">
              <a:noAutofit/>
            </a:bodyPr>
            <a:lstStyle/>
            <a:p>
              <a:pPr algn="l"/>
              <a:r>
                <a:rPr sz="1000" b="0" i="1">
                  <a:solidFill>
                    <a:srgbClr val="64748B"/>
                  </a:solidFill>
                </a:rPr>
                <a:t>backbone (one of)</a:t>
              </a:r>
            </a:p>
          </p:txBody>
        </p:sp>
        <p:sp>
          <p:nvSpPr>
            <p:cNvPr id="9" name="Rounded Rectangle 8"/>
            <p:cNvSpPr/>
            <p:nvPr/>
          </p:nvSpPr>
          <p:spPr>
            <a:xfrm>
              <a:off x="5166359" y="2395728"/>
              <a:ext cx="2926080" cy="566928"/>
            </a:xfrm>
            <a:prstGeom prst="roundRect">
              <a:avLst>
                <a:gd name="adj" fmla="val 12000"/>
              </a:avLst>
            </a:prstGeom>
            <a:solidFill>
              <a:srgbClr val="E8EEF4"/>
            </a:solidFill>
            <a:ln w="15875">
              <a:solidFill>
                <a:srgbClr val="2F5D7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200" b="1" i="0">
                  <a:solidFill>
                    <a:srgbClr val="0F172A"/>
                  </a:solidFill>
                </a:rPr>
                <a:t>DeBERTa-v3-large</a:t>
              </a:r>
            </a:p>
            <a:p>
              <a:pPr algn="ctr"/>
              <a:r>
                <a:rPr sz="1200" b="0" i="0">
                  <a:solidFill>
                    <a:srgbClr val="1E293B"/>
                  </a:solidFill>
                </a:rPr>
                <a:t>full fine-tune, [CLS] pooling</a:t>
              </a:r>
            </a:p>
          </p:txBody>
        </p:sp>
        <p:sp>
          <p:nvSpPr>
            <p:cNvPr id="10" name="Rounded Rectangle 9"/>
            <p:cNvSpPr/>
            <p:nvPr/>
          </p:nvSpPr>
          <p:spPr>
            <a:xfrm>
              <a:off x="8394192" y="2395728"/>
              <a:ext cx="2926080" cy="566928"/>
            </a:xfrm>
            <a:prstGeom prst="roundRect">
              <a:avLst>
                <a:gd name="adj" fmla="val 12000"/>
              </a:avLst>
            </a:prstGeom>
            <a:solidFill>
              <a:srgbClr val="E8EEF4"/>
            </a:solidFill>
            <a:ln w="15875">
              <a:solidFill>
                <a:srgbClr val="2F5D7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200" b="1" i="0">
                  <a:solidFill>
                    <a:srgbClr val="0F172A"/>
                  </a:solidFill>
                </a:rPr>
                <a:t>Qwen3-8B-Base + LoRA</a:t>
              </a:r>
            </a:p>
            <a:p>
              <a:pPr algn="ctr"/>
              <a:r>
                <a:rPr sz="1200" b="0" i="0">
                  <a:solidFill>
                    <a:srgbClr val="1E293B"/>
                  </a:solidFill>
                </a:rPr>
                <a:t>r = 16, last-token pooling</a:t>
              </a:r>
            </a:p>
          </p:txBody>
        </p:sp>
        <p:sp>
          <p:nvSpPr>
            <p:cNvPr id="11" name="Rounded Rectangle 10"/>
            <p:cNvSpPr/>
            <p:nvPr/>
          </p:nvSpPr>
          <p:spPr>
            <a:xfrm>
              <a:off x="5166359" y="3218688"/>
              <a:ext cx="6153912" cy="411480"/>
            </a:xfrm>
            <a:prstGeom prst="roundRect">
              <a:avLst>
                <a:gd name="adj" fmla="val 12000"/>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200" b="1" i="0">
                  <a:solidFill>
                    <a:srgbClr val="0F172A"/>
                  </a:solidFill>
                </a:rPr>
                <a:t>Linear head: 9 logits, softmax per seed</a:t>
              </a:r>
            </a:p>
          </p:txBody>
        </p:sp>
        <p:sp>
          <p:nvSpPr>
            <p:cNvPr id="12" name="Rounded Rectangle 11"/>
            <p:cNvSpPr/>
            <p:nvPr/>
          </p:nvSpPr>
          <p:spPr>
            <a:xfrm>
              <a:off x="5166359" y="3858768"/>
              <a:ext cx="6153912" cy="411480"/>
            </a:xfrm>
            <a:prstGeom prst="roundRect">
              <a:avLst>
                <a:gd name="adj" fmla="val 12000"/>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200" b="1" i="0">
                  <a:solidFill>
                    <a:srgbClr val="0F172A"/>
                  </a:solidFill>
                </a:rPr>
                <a:t>Mean of the 10 seeds' probabilities</a:t>
              </a:r>
            </a:p>
          </p:txBody>
        </p:sp>
        <p:sp>
          <p:nvSpPr>
            <p:cNvPr id="13" name="Rounded Rectangle 12"/>
            <p:cNvSpPr/>
            <p:nvPr/>
          </p:nvSpPr>
          <p:spPr>
            <a:xfrm>
              <a:off x="5166359" y="4498848"/>
              <a:ext cx="6153912" cy="411480"/>
            </a:xfrm>
            <a:prstGeom prst="roundRect">
              <a:avLst>
                <a:gd name="adj" fmla="val 12000"/>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200" b="1" i="0">
                  <a:solidFill>
                    <a:srgbClr val="0F172A"/>
                  </a:solidFill>
                </a:rPr>
                <a:t>Logit adjustment: argmax of p / prior^τ   (τ by nested CV)</a:t>
              </a:r>
            </a:p>
          </p:txBody>
        </p:sp>
        <p:sp>
          <p:nvSpPr>
            <p:cNvPr id="14" name="Rounded Rectangle 13"/>
            <p:cNvSpPr/>
            <p:nvPr/>
          </p:nvSpPr>
          <p:spPr>
            <a:xfrm>
              <a:off x="5166359" y="5138928"/>
              <a:ext cx="2926080" cy="457200"/>
            </a:xfrm>
            <a:prstGeom prst="roundRect">
              <a:avLst>
                <a:gd name="adj" fmla="val 12000"/>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100" b="1" i="0">
                  <a:solidFill>
                    <a:srgbClr val="0F172A"/>
                  </a:solidFill>
                </a:rPr>
                <a:t>Subtask 2</a:t>
              </a:r>
            </a:p>
            <a:p>
              <a:pPr algn="ctr"/>
              <a:r>
                <a:rPr sz="1100" b="0" i="0">
                  <a:solidFill>
                    <a:srgbClr val="1E293B"/>
                  </a:solidFill>
                </a:rPr>
                <a:t>evasion type (9)</a:t>
              </a:r>
            </a:p>
          </p:txBody>
        </p:sp>
        <p:sp>
          <p:nvSpPr>
            <p:cNvPr id="15" name="Rounded Rectangle 14"/>
            <p:cNvSpPr/>
            <p:nvPr/>
          </p:nvSpPr>
          <p:spPr>
            <a:xfrm>
              <a:off x="8394192" y="5138928"/>
              <a:ext cx="2926080" cy="457200"/>
            </a:xfrm>
            <a:prstGeom prst="roundRect">
              <a:avLst>
                <a:gd name="adj" fmla="val 12000"/>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100" b="1" i="0">
                  <a:solidFill>
                    <a:srgbClr val="0F172A"/>
                  </a:solidFill>
                </a:rPr>
                <a:t>Subtask 1</a:t>
              </a:r>
            </a:p>
            <a:p>
              <a:pPr algn="ctr"/>
              <a:r>
                <a:rPr sz="1100" b="0" i="0">
                  <a:solidFill>
                    <a:srgbClr val="1E293B"/>
                  </a:solidFill>
                </a:rPr>
                <a:t>clarity level (3)</a:t>
              </a:r>
            </a:p>
          </p:txBody>
        </p:sp>
        <p:cxnSp>
          <p:nvCxnSpPr>
            <p:cNvPr id="16" name="Connector 15"/>
            <p:cNvCxnSpPr>
              <a:stCxn id="7" idx="2"/>
              <a:endCxn id="9" idx="0"/>
            </p:cNvCxnSpPr>
            <p:nvPr/>
          </p:nvCxnSpPr>
          <p:spPr>
            <a:xfrm flipH="1">
              <a:off x="6629399" y="2121408"/>
              <a:ext cx="1613916" cy="274320"/>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a:stCxn id="7" idx="2"/>
              <a:endCxn id="10" idx="0"/>
            </p:cNvCxnSpPr>
            <p:nvPr/>
          </p:nvCxnSpPr>
          <p:spPr>
            <a:xfrm>
              <a:off x="8243315" y="2121408"/>
              <a:ext cx="1613917" cy="274320"/>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a:stCxn id="9" idx="2"/>
              <a:endCxn id="11" idx="0"/>
            </p:cNvCxnSpPr>
            <p:nvPr/>
          </p:nvCxnSpPr>
          <p:spPr>
            <a:xfrm>
              <a:off x="6629399" y="2962656"/>
              <a:ext cx="1613916" cy="256032"/>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a:stCxn id="10" idx="2"/>
              <a:endCxn id="11" idx="0"/>
            </p:cNvCxnSpPr>
            <p:nvPr/>
          </p:nvCxnSpPr>
          <p:spPr>
            <a:xfrm flipH="1">
              <a:off x="8243315" y="2962656"/>
              <a:ext cx="1613917" cy="256032"/>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a:stCxn id="11" idx="2"/>
              <a:endCxn id="12" idx="0"/>
            </p:cNvCxnSpPr>
            <p:nvPr/>
          </p:nvCxnSpPr>
          <p:spPr>
            <a:xfrm flipH="1">
              <a:off x="8243315" y="3630168"/>
              <a:ext cx="0" cy="228600"/>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a:stCxn id="12" idx="2"/>
              <a:endCxn id="13" idx="0"/>
            </p:cNvCxnSpPr>
            <p:nvPr/>
          </p:nvCxnSpPr>
          <p:spPr>
            <a:xfrm flipH="1">
              <a:off x="8243315" y="4270248"/>
              <a:ext cx="0" cy="228600"/>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a:stCxn id="14" idx="3"/>
              <a:endCxn id="15" idx="1"/>
            </p:cNvCxnSpPr>
            <p:nvPr/>
          </p:nvCxnSpPr>
          <p:spPr>
            <a:xfrm flipV="1">
              <a:off x="8092439" y="5367528"/>
              <a:ext cx="301753" cy="0"/>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Freeform 22"/>
            <p:cNvSpPr/>
            <p:nvPr/>
          </p:nvSpPr>
          <p:spPr>
            <a:xfrm>
              <a:off x="6629400" y="4910328"/>
              <a:ext cx="1613915" cy="228600"/>
            </a:xfrm>
            <a:custGeom>
              <a:avLst/>
              <a:gdLst/>
              <a:ahLst/>
              <a:cxnLst/>
              <a:rect l="l" t="t" r="r" b="b"/>
              <a:pathLst>
                <a:path w="1613915" h="228600">
                  <a:moveTo>
                    <a:pt x="1613915" y="0"/>
                  </a:moveTo>
                  <a:lnTo>
                    <a:pt x="1613915" y="114300"/>
                  </a:lnTo>
                  <a:lnTo>
                    <a:pt x="0" y="114300"/>
                  </a:lnTo>
                  <a:lnTo>
                    <a:pt x="0" y="228600"/>
                  </a:lnTo>
                </a:path>
              </a:pathLst>
            </a:custGeom>
            <a:noFill/>
            <a:ln w="15875">
              <a:solidFill>
                <a:srgbClr val="64748B"/>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5120640"/>
              <a:ext cx="301751" cy="237744"/>
            </a:xfrm>
            <a:prstGeom prst="rect">
              <a:avLst/>
            </a:prstGeom>
            <a:noFill/>
          </p:spPr>
          <p:txBody>
            <a:bodyPr wrap="square" lIns="0" rIns="0" tIns="0" bIns="0">
              <a:noAutofit/>
            </a:bodyPr>
            <a:lstStyle/>
            <a:p>
              <a:pPr algn="ctr"/>
              <a:r>
                <a:rPr sz="1200" b="0" i="1">
                  <a:solidFill>
                    <a:srgbClr val="64748B"/>
                  </a:solidFill>
                </a:rPr>
                <a:t>g</a:t>
              </a:r>
            </a:p>
          </p:txBody>
        </p:sp>
      </p:grpSp>
      <p:sp>
        <p:nvSpPr>
          <p:cNvPr id="25" name="Caption"/>
          <p:cNvSpPr txBox="1"/>
          <p:nvPr/>
        </p:nvSpPr>
        <p:spPr>
          <a:xfrm>
            <a:off x="5166359" y="5760720"/>
            <a:ext cx="6153912" cy="365760"/>
          </a:xfrm>
          <a:prstGeom prst="rect">
            <a:avLst/>
          </a:prstGeom>
          <a:noFill/>
        </p:spPr>
        <p:txBody>
          <a:bodyPr wrap="square" lIns="0" rIns="0" tIns="0" bIns="0" anchor="t">
            <a:noAutofit/>
          </a:bodyPr>
          <a:lstStyle/>
          <a:p>
            <a:pPr algn="l"/>
            <a:r>
              <a:rPr sz="1100" b="0" i="1">
                <a:solidFill>
                  <a:srgbClr val="64748B"/>
                </a:solidFill>
              </a:rPr>
              <a:t>Redrawn from Report Figure 1. Accent boxes: the one component that differs between the two tracks.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Every claim rests on ten paired seeds and a fixed bar</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EVALUATION PROTOCOL</a:t>
            </a:r>
          </a:p>
        </p:txBody>
      </p:sp>
      <p:sp>
        <p:nvSpPr>
          <p:cNvPr id="4" name="Bullets"/>
          <p:cNvSpPr txBox="1"/>
          <p:nvPr/>
        </p:nvSpPr>
        <p:spPr>
          <a:xfrm>
            <a:off x="548640" y="1417320"/>
            <a:ext cx="4023360" cy="4846320"/>
          </a:xfrm>
          <a:prstGeom prst="rect">
            <a:avLst/>
          </a:prstGeom>
          <a:noFill/>
        </p:spPr>
        <p:txBody>
          <a:bodyPr wrap="square" lIns="0" rIns="0" tIns="0" bIns="0" anchor="ctr">
            <a:noAutofit/>
          </a:bodyPr>
          <a:lstStyle/>
          <a:p>
            <a:pPr marL="246888" indent="-246888">
              <a:lnSpc>
                <a:spcPct val="105000"/>
              </a:lnSpc>
              <a:spcAft>
                <a:spcPts val="1400"/>
              </a:spcAft>
              <a:buClr>
                <a:srgbClr val="2F5D7C"/>
              </a:buClr>
              <a:buFont typeface="Arial"/>
              <a:buChar char="•"/>
            </a:pPr>
            <a:r>
              <a:rPr sz="1800" b="0" i="0">
                <a:solidFill>
                  <a:srgbClr val="1E293B"/>
                </a:solidFill>
              </a:rPr>
              <a:t>Epoch chosen on a fixed 345-row train slice; dev never selects anything.</a:t>
            </a:r>
          </a:p>
          <a:p>
            <a:pPr marL="246888" indent="-246888">
              <a:lnSpc>
                <a:spcPct val="105000"/>
              </a:lnSpc>
              <a:spcAft>
                <a:spcPts val="1400"/>
              </a:spcAft>
              <a:buClr>
                <a:srgbClr val="2F5D7C"/>
              </a:buClr>
              <a:buFont typeface="Arial"/>
              <a:buChar char="•"/>
            </a:pPr>
            <a:r>
              <a:rPr sz="1800" b="0" i="0">
                <a:solidFill>
                  <a:srgbClr val="1E293B"/>
                </a:solidFill>
              </a:rPr>
              <a:t>Only dev-fitted parameter is </a:t>
            </a:r>
            <a:r>
              <a:rPr sz="1800" b="1" i="0">
                <a:solidFill>
                  <a:srgbClr val="1E293B"/>
                </a:solidFill>
              </a:rPr>
              <a:t>τ</a:t>
            </a:r>
            <a:r>
              <a:rPr sz="1800" b="0" i="0">
                <a:solidFill>
                  <a:srgbClr val="1E293B"/>
                </a:solidFill>
              </a:rPr>
              <a:t>, chosen by 5-fold nested cross-validation.</a:t>
            </a:r>
          </a:p>
          <a:p>
            <a:pPr marL="246888" indent="-246888">
              <a:lnSpc>
                <a:spcPct val="105000"/>
              </a:lnSpc>
              <a:spcAft>
                <a:spcPts val="1400"/>
              </a:spcAft>
              <a:buClr>
                <a:srgbClr val="2F5D7C"/>
              </a:buClr>
              <a:buFont typeface="Arial"/>
              <a:buChar char="•"/>
            </a:pPr>
            <a:r>
              <a:rPr sz="1800" b="0" i="0">
                <a:solidFill>
                  <a:srgbClr val="1E293B"/>
                </a:solidFill>
              </a:rPr>
              <a:t>Seeds 0–9 paired across configurations: same head initialisation and data order.</a:t>
            </a:r>
          </a:p>
          <a:p>
            <a:pPr marL="246888" indent="-246888">
              <a:lnSpc>
                <a:spcPct val="105000"/>
              </a:lnSpc>
              <a:spcAft>
                <a:spcPts val="1400"/>
              </a:spcAft>
              <a:buClr>
                <a:srgbClr val="2F5D7C"/>
              </a:buClr>
              <a:buFont typeface="Arial"/>
              <a:buChar char="•"/>
            </a:pPr>
            <a:r>
              <a:rPr sz="1800" b="0" i="0">
                <a:solidFill>
                  <a:srgbClr val="1E293B"/>
                </a:solidFill>
              </a:rPr>
              <a:t>Hypotheses and predicted outcomes logged </a:t>
            </a:r>
            <a:r>
              <a:rPr sz="1800" b="1" i="0">
                <a:solidFill>
                  <a:srgbClr val="1E293B"/>
                </a:solidFill>
              </a:rPr>
              <a:t>before</a:t>
            </a:r>
            <a:r>
              <a:rPr sz="1800" b="0" i="0">
                <a:solidFill>
                  <a:srgbClr val="1E293B"/>
                </a:solidFill>
              </a:rPr>
              <a:t> every run.</a:t>
            </a:r>
          </a:p>
        </p:txBody>
      </p:sp>
      <p:sp>
        <p:nvSpPr>
          <p:cNvPr id="5" name="Panel"/>
          <p:cNvSpPr/>
          <p:nvPr/>
        </p:nvSpPr>
        <p:spPr>
          <a:xfrm>
            <a:off x="4846320" y="1417320"/>
            <a:ext cx="6793992" cy="4846320"/>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nvGrpSpPr>
          <p:cNvPr id="6" name="Diagram: protocol"/>
          <p:cNvGrpSpPr/>
          <p:nvPr/>
        </p:nvGrpSpPr>
        <p:grpSpPr>
          <a:xfrm>
            <a:off x="5166359" y="1664208"/>
            <a:ext cx="6199632" cy="4142232"/>
            <a:chOff x="5166359" y="1664208"/>
            <a:chExt cx="6199632" cy="4142232"/>
          </a:xfrm>
        </p:grpSpPr>
        <p:sp>
          <p:nvSpPr>
            <p:cNvPr id="7" name="Rounded Rectangle 6"/>
            <p:cNvSpPr/>
            <p:nvPr/>
          </p:nvSpPr>
          <p:spPr>
            <a:xfrm>
              <a:off x="5166359" y="1664208"/>
              <a:ext cx="3611880" cy="457200"/>
            </a:xfrm>
            <a:prstGeom prst="roundRect">
              <a:avLst>
                <a:gd name="adj" fmla="val 12000"/>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200" b="1" i="0">
                  <a:solidFill>
                    <a:srgbClr val="0F172A"/>
                  </a:solidFill>
                </a:rPr>
                <a:t>Register hypothesis and predicted outcome</a:t>
              </a:r>
            </a:p>
          </p:txBody>
        </p:sp>
        <p:sp>
          <p:nvSpPr>
            <p:cNvPr id="8" name="Rounded Rectangle 7"/>
            <p:cNvSpPr/>
            <p:nvPr/>
          </p:nvSpPr>
          <p:spPr>
            <a:xfrm>
              <a:off x="5166359" y="2350008"/>
              <a:ext cx="3611880" cy="457200"/>
            </a:xfrm>
            <a:prstGeom prst="roundRect">
              <a:avLst>
                <a:gd name="adj" fmla="val 12000"/>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200" b="1" i="0">
                  <a:solidFill>
                    <a:srgbClr val="0F172A"/>
                  </a:solidFill>
                </a:rPr>
                <a:t>Change one component against a named control</a:t>
              </a:r>
            </a:p>
          </p:txBody>
        </p:sp>
        <p:sp>
          <p:nvSpPr>
            <p:cNvPr id="9" name="Rounded Rectangle 8"/>
            <p:cNvSpPr/>
            <p:nvPr/>
          </p:nvSpPr>
          <p:spPr>
            <a:xfrm>
              <a:off x="5166359" y="3035808"/>
              <a:ext cx="3611880" cy="457200"/>
            </a:xfrm>
            <a:prstGeom prst="roundRect">
              <a:avLst>
                <a:gd name="adj" fmla="val 12000"/>
              </a:avLst>
            </a:prstGeom>
            <a:solidFill>
              <a:srgbClr val="E8EEF4"/>
            </a:solidFill>
            <a:ln w="15875">
              <a:solidFill>
                <a:srgbClr val="2F5D7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200" b="1" i="0">
                  <a:solidFill>
                    <a:srgbClr val="0F172A"/>
                  </a:solidFill>
                </a:rPr>
                <a:t>Screen on 3 paired seeds</a:t>
              </a:r>
            </a:p>
          </p:txBody>
        </p:sp>
        <p:sp>
          <p:nvSpPr>
            <p:cNvPr id="10" name="Rounded Rectangle 9"/>
            <p:cNvSpPr/>
            <p:nvPr/>
          </p:nvSpPr>
          <p:spPr>
            <a:xfrm>
              <a:off x="5166359" y="3931920"/>
              <a:ext cx="3611880" cy="457200"/>
            </a:xfrm>
            <a:prstGeom prst="roundRect">
              <a:avLst>
                <a:gd name="adj" fmla="val 12000"/>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200" b="1" i="0">
                  <a:solidFill>
                    <a:srgbClr val="0F172A"/>
                  </a:solidFill>
                </a:rPr>
                <a:t>Extend to 10 paired seeds</a:t>
              </a:r>
            </a:p>
          </p:txBody>
        </p:sp>
        <p:sp>
          <p:nvSpPr>
            <p:cNvPr id="11" name="Rounded Rectangle 10"/>
            <p:cNvSpPr/>
            <p:nvPr/>
          </p:nvSpPr>
          <p:spPr>
            <a:xfrm>
              <a:off x="5166359" y="4617720"/>
              <a:ext cx="3611880" cy="457200"/>
            </a:xfrm>
            <a:prstGeom prst="roundRect">
              <a:avLst>
                <a:gd name="adj" fmla="val 12000"/>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200" b="1" i="0">
                  <a:solidFill>
                    <a:srgbClr val="0F172A"/>
                  </a:solidFill>
                </a:rPr>
                <a:t>System: 10-seed ensemble + logit adjustment</a:t>
              </a:r>
            </a:p>
          </p:txBody>
        </p:sp>
        <p:sp>
          <p:nvSpPr>
            <p:cNvPr id="12" name="Rounded Rectangle 11"/>
            <p:cNvSpPr/>
            <p:nvPr/>
          </p:nvSpPr>
          <p:spPr>
            <a:xfrm>
              <a:off x="5166359" y="5303520"/>
              <a:ext cx="3611880" cy="502920"/>
            </a:xfrm>
            <a:prstGeom prst="roundRect">
              <a:avLst>
                <a:gd name="adj" fmla="val 12000"/>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100" b="0" i="0">
                  <a:solidFill>
                    <a:srgbClr val="0F172A"/>
                  </a:solidFill>
                </a:rPr>
                <a:t>Report paired Δ, t, seeds up,</a:t>
              </a:r>
            </a:p>
            <a:p>
              <a:pPr algn="ctr"/>
              <a:r>
                <a:rPr sz="1100" b="0" i="0">
                  <a:solidFill>
                    <a:srgbClr val="1E293B"/>
                  </a:solidFill>
                </a:rPr>
                <a:t>bootstrap 95% CI, 2-annotator rescoring</a:t>
              </a:r>
            </a:p>
          </p:txBody>
        </p:sp>
        <p:sp>
          <p:nvSpPr>
            <p:cNvPr id="13" name="Rounded Rectangle 12"/>
            <p:cNvSpPr/>
            <p:nvPr/>
          </p:nvSpPr>
          <p:spPr>
            <a:xfrm>
              <a:off x="9281160" y="2962656"/>
              <a:ext cx="2084831" cy="603504"/>
            </a:xfrm>
            <a:prstGeom prst="roundRect">
              <a:avLst>
                <a:gd name="adj" fmla="val 12000"/>
              </a:avLst>
            </a:prstGeom>
            <a:solidFill>
              <a:srgbClr val="EEF2F6"/>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100" b="0" i="0">
                  <a:solidFill>
                    <a:srgbClr val="0F172A"/>
                  </a:solidFill>
                </a:rPr>
                <a:t>Log as negative,</a:t>
              </a:r>
            </a:p>
            <a:p>
              <a:pPr algn="ctr"/>
              <a:r>
                <a:rPr sz="1100" b="0" i="0">
                  <a:solidFill>
                    <a:srgbClr val="1E293B"/>
                  </a:solidFill>
                </a:rPr>
                <a:t>with its mechanism</a:t>
              </a:r>
            </a:p>
          </p:txBody>
        </p:sp>
        <p:cxnSp>
          <p:nvCxnSpPr>
            <p:cNvPr id="14" name="Connector 13"/>
            <p:cNvCxnSpPr>
              <a:stCxn id="7" idx="2"/>
              <a:endCxn id="8" idx="0"/>
            </p:cNvCxnSpPr>
            <p:nvPr/>
          </p:nvCxnSpPr>
          <p:spPr>
            <a:xfrm flipH="1">
              <a:off x="6972299" y="2121408"/>
              <a:ext cx="0" cy="228600"/>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a:stCxn id="8" idx="2"/>
              <a:endCxn id="9" idx="0"/>
            </p:cNvCxnSpPr>
            <p:nvPr/>
          </p:nvCxnSpPr>
          <p:spPr>
            <a:xfrm flipH="1">
              <a:off x="6972299" y="2807208"/>
              <a:ext cx="0" cy="228600"/>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a:stCxn id="9" idx="2"/>
              <a:endCxn id="10" idx="0"/>
            </p:cNvCxnSpPr>
            <p:nvPr/>
          </p:nvCxnSpPr>
          <p:spPr>
            <a:xfrm flipH="1">
              <a:off x="6972299" y="3493008"/>
              <a:ext cx="0" cy="438912"/>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a:stCxn id="10" idx="2"/>
              <a:endCxn id="11" idx="0"/>
            </p:cNvCxnSpPr>
            <p:nvPr/>
          </p:nvCxnSpPr>
          <p:spPr>
            <a:xfrm flipH="1">
              <a:off x="6972299" y="4389120"/>
              <a:ext cx="0" cy="228600"/>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a:stCxn id="11" idx="2"/>
              <a:endCxn id="12" idx="0"/>
            </p:cNvCxnSpPr>
            <p:nvPr/>
          </p:nvCxnSpPr>
          <p:spPr>
            <a:xfrm flipH="1">
              <a:off x="6972299" y="5074920"/>
              <a:ext cx="0" cy="228600"/>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a:stCxn id="9" idx="3"/>
              <a:endCxn id="13" idx="1"/>
            </p:cNvCxnSpPr>
            <p:nvPr/>
          </p:nvCxnSpPr>
          <p:spPr>
            <a:xfrm flipV="1">
              <a:off x="8778239" y="3264408"/>
              <a:ext cx="502921" cy="0"/>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063740" y="3584448"/>
              <a:ext cx="2103120" cy="237744"/>
            </a:xfrm>
            <a:prstGeom prst="rect">
              <a:avLst/>
            </a:prstGeom>
            <a:noFill/>
          </p:spPr>
          <p:txBody>
            <a:bodyPr wrap="square" lIns="0" rIns="0" tIns="0" bIns="0">
              <a:noAutofit/>
            </a:bodyPr>
            <a:lstStyle/>
            <a:p>
              <a:pPr algn="l"/>
              <a:r>
                <a:rPr sz="1000" b="0" i="1">
                  <a:solidFill>
                    <a:srgbClr val="64748B"/>
                  </a:solidFill>
                </a:rPr>
                <a:t>gain ≥ +0.015, 2 of 3 seeds up</a:t>
              </a:r>
            </a:p>
          </p:txBody>
        </p:sp>
        <p:sp>
          <p:nvSpPr>
            <p:cNvPr id="21" name="TextBox 20"/>
            <p:cNvSpPr txBox="1"/>
            <p:nvPr/>
          </p:nvSpPr>
          <p:spPr>
            <a:xfrm>
              <a:off x="8796528" y="3017520"/>
              <a:ext cx="457200" cy="237744"/>
            </a:xfrm>
            <a:prstGeom prst="rect">
              <a:avLst/>
            </a:prstGeom>
            <a:noFill/>
          </p:spPr>
          <p:txBody>
            <a:bodyPr wrap="square" lIns="0" rIns="0" tIns="0" bIns="0">
              <a:noAutofit/>
            </a:bodyPr>
            <a:lstStyle/>
            <a:p>
              <a:pPr algn="ctr"/>
              <a:r>
                <a:rPr sz="1000" b="0" i="1">
                  <a:solidFill>
                    <a:srgbClr val="64748B"/>
                  </a:solidFill>
                </a:rPr>
                <a:t>below</a:t>
              </a:r>
            </a:p>
          </p:txBody>
        </p:sp>
      </p:grpSp>
      <p:sp>
        <p:nvSpPr>
          <p:cNvPr id="22" name="Caption"/>
          <p:cNvSpPr txBox="1"/>
          <p:nvPr/>
        </p:nvSpPr>
        <p:spPr>
          <a:xfrm>
            <a:off x="9281160" y="3703320"/>
            <a:ext cx="2084831" cy="365760"/>
          </a:xfrm>
          <a:prstGeom prst="rect">
            <a:avLst/>
          </a:prstGeom>
          <a:noFill/>
        </p:spPr>
        <p:txBody>
          <a:bodyPr wrap="square" lIns="0" rIns="0" tIns="0" bIns="0" anchor="t">
            <a:noAutofit/>
          </a:bodyPr>
          <a:lstStyle/>
          <a:p>
            <a:pPr algn="l"/>
            <a:r>
              <a:rPr sz="1100" b="0" i="1">
                <a:solidFill>
                  <a:srgbClr val="64748B"/>
                </a:solidFill>
              </a:rPr>
              <a:t>The bar is fixed before each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A sound baseline took a library fix and three attempts</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ITERATION 1  ·  STEPS 0–2, E0</a:t>
            </a:r>
          </a:p>
        </p:txBody>
      </p:sp>
      <p:sp>
        <p:nvSpPr>
          <p:cNvPr id="4" name="Bullets"/>
          <p:cNvSpPr txBox="1"/>
          <p:nvPr/>
        </p:nvSpPr>
        <p:spPr>
          <a:xfrm>
            <a:off x="548640" y="1417320"/>
            <a:ext cx="4023360" cy="4846320"/>
          </a:xfrm>
          <a:prstGeom prst="rect">
            <a:avLst/>
          </a:prstGeom>
          <a:noFill/>
        </p:spPr>
        <p:txBody>
          <a:bodyPr wrap="square" lIns="0" rIns="0" tIns="0" bIns="0" anchor="ctr">
            <a:noAutofit/>
          </a:bodyPr>
          <a:lstStyle/>
          <a:p>
            <a:pPr marL="246888" indent="-246888">
              <a:lnSpc>
                <a:spcPct val="105000"/>
              </a:lnSpc>
              <a:spcAft>
                <a:spcPts val="1400"/>
              </a:spcAft>
              <a:buClr>
                <a:srgbClr val="2F5D7C"/>
              </a:buClr>
              <a:buFont typeface="Arial"/>
              <a:buChar char="•"/>
            </a:pPr>
            <a:r>
              <a:rPr sz="1800" b="0" i="0">
                <a:solidFill>
                  <a:srgbClr val="1E293B"/>
                </a:solidFill>
              </a:rPr>
              <a:t>DeBERTa-v3-large: sub-question + answer, 512 tokens, 8 epochs, plain cross-entropy.</a:t>
            </a:r>
          </a:p>
          <a:p>
            <a:pPr marL="246888" indent="-246888">
              <a:lnSpc>
                <a:spcPct val="105000"/>
              </a:lnSpc>
              <a:spcAft>
                <a:spcPts val="1400"/>
              </a:spcAft>
              <a:buClr>
                <a:srgbClr val="2F5D7C"/>
              </a:buClr>
              <a:buFont typeface="Arial"/>
              <a:buChar char="•"/>
            </a:pPr>
            <a:r>
              <a:rPr sz="1800" b="0" i="0">
                <a:solidFill>
                  <a:srgbClr val="1E293B"/>
                </a:solidFill>
              </a:rPr>
              <a:t>Library loaded fp16 weights; attention overflowed, loss stuck at 1.887.</a:t>
            </a:r>
          </a:p>
          <a:p>
            <a:pPr marL="246888" indent="-246888">
              <a:lnSpc>
                <a:spcPct val="105000"/>
              </a:lnSpc>
              <a:spcAft>
                <a:spcPts val="1400"/>
              </a:spcAft>
              <a:buClr>
                <a:srgbClr val="2F5D7C"/>
              </a:buClr>
              <a:buFont typeface="Arial"/>
              <a:buChar char="•"/>
            </a:pPr>
            <a:r>
              <a:rPr sz="1800" b="0" i="0">
                <a:solidFill>
                  <a:srgbClr val="1E293B"/>
                </a:solidFill>
              </a:rPr>
              <a:t>Fixed by an explicit fp32 load: baseline S2 </a:t>
            </a:r>
            <a:r>
              <a:rPr sz="1800" b="1" i="0">
                <a:solidFill>
                  <a:srgbClr val="1E293B"/>
                </a:solidFill>
              </a:rPr>
              <a:t>0.337 ± 0.044</a:t>
            </a:r>
            <a:r>
              <a:rPr sz="1800" b="0" i="0">
                <a:solidFill>
                  <a:srgbClr val="1E293B"/>
                </a:solidFill>
              </a:rPr>
              <a:t>, 5 seeds.</a:t>
            </a:r>
          </a:p>
          <a:p>
            <a:pPr marL="246888" indent="-246888">
              <a:lnSpc>
                <a:spcPct val="105000"/>
              </a:lnSpc>
              <a:spcAft>
                <a:spcPts val="1400"/>
              </a:spcAft>
              <a:buClr>
                <a:srgbClr val="2F5D7C"/>
              </a:buClr>
              <a:buFont typeface="Arial"/>
              <a:buChar char="•"/>
            </a:pPr>
            <a:r>
              <a:rPr sz="1800" b="0" i="0">
                <a:solidFill>
                  <a:srgbClr val="1E293B"/>
                </a:solidFill>
              </a:rPr>
              <a:t>A 5-epoch rerun scored 0.223: schedule truncation, not a bad idea.</a:t>
            </a:r>
          </a:p>
        </p:txBody>
      </p:sp>
      <p:sp>
        <p:nvSpPr>
          <p:cNvPr id="5" name="Panel"/>
          <p:cNvSpPr/>
          <p:nvPr/>
        </p:nvSpPr>
        <p:spPr>
          <a:xfrm>
            <a:off x="4846320" y="1691640"/>
            <a:ext cx="6793992" cy="4297679"/>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Code"/>
          <p:cNvSpPr/>
          <p:nvPr/>
        </p:nvSpPr>
        <p:spPr>
          <a:xfrm>
            <a:off x="5120640" y="1965960"/>
            <a:ext cx="6245352" cy="1325880"/>
          </a:xfrm>
          <a:prstGeom prst="roundRect">
            <a:avLst>
              <a:gd name="adj" fmla="val 2500"/>
            </a:avLst>
          </a:prstGeom>
          <a:solidFill>
            <a:srgbClr val="EEF2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noAutofit/>
          </a:bodyPr>
          <a:lstStyle/>
          <a:p>
            <a:pPr algn="l"/>
            <a:r>
              <a:rPr sz="1200" b="0" i="0">
                <a:solidFill>
                  <a:srgbClr val="64748B"/>
                </a:solidFill>
                <a:latin typeface="Courier New"/>
              </a:rPr>
              <a:t># code/models/encoder.py:176</a:t>
            </a:r>
          </a:p>
          <a:p>
            <a:pPr algn="l"/>
            <a:r>
              <a:rPr sz="1200" b="0" i="0">
                <a:solidFill>
                  <a:srgbClr val="64748B"/>
                </a:solidFill>
                <a:latin typeface="Courier New"/>
              </a:rPr>
              <a:t># transformers 5.x loads DeBERTa-v3 in its stored fp16;</a:t>
            </a:r>
          </a:p>
          <a:p>
            <a:pPr algn="l"/>
            <a:r>
              <a:rPr sz="1200" b="0" i="0">
                <a:solidFill>
                  <a:srgbClr val="64748B"/>
                </a:solidFill>
                <a:latin typeface="Courier New"/>
              </a:rPr>
              <a:t># the model then predicts "Explicit" for every item.</a:t>
            </a:r>
          </a:p>
          <a:p>
            <a:pPr algn="l"/>
            <a:r>
              <a:rPr sz="1200" b="0" i="0">
                <a:solidFill>
                  <a:srgbClr val="0F172A"/>
                </a:solidFill>
                <a:latin typeface="Courier New"/>
              </a:rPr>
              <a:t>self.enc = AutoModel.from_pretrained(</a:t>
            </a:r>
          </a:p>
          <a:p>
            <a:pPr algn="l"/>
            <a:r>
              <a:rPr sz="1200" b="0" i="0">
                <a:solidFill>
                  <a:srgbClr val="0F172A"/>
                </a:solidFill>
                <a:latin typeface="Courier New"/>
              </a:rPr>
              <a:t>    name, dtype=torch.float32)</a:t>
            </a:r>
          </a:p>
        </p:txBody>
      </p:sp>
      <p:graphicFrame>
        <p:nvGraphicFramePr>
          <p:cNvPr id="7" name="Table"/>
          <p:cNvGraphicFramePr>
            <a:graphicFrameLocks noGrp="1"/>
          </p:cNvGraphicFramePr>
          <p:nvPr/>
        </p:nvGraphicFramePr>
        <p:xfrm>
          <a:off x="5120640" y="3566160"/>
          <a:ext cx="6245352" cy="1097280"/>
        </p:xfrm>
        <a:graphic>
          <a:graphicData uri="http://schemas.openxmlformats.org/drawingml/2006/table">
            <a:tbl>
              <a:tblPr firstRow="0" bandRow="0">
                <a:tableStyleId>{2D5ABB26-0587-4C30-8999-92F81FD0307C}</a:tableStyleId>
              </a:tblPr>
              <a:tblGrid>
                <a:gridCol w="1040892"/>
                <a:gridCol w="1040892"/>
                <a:gridCol w="1040892"/>
                <a:gridCol w="1040892"/>
                <a:gridCol w="1040892"/>
                <a:gridCol w="1040892"/>
              </a:tblGrid>
              <a:tr h="365760">
                <a:tc>
                  <a:txBody>
                    <a:bodyPr wrap="square"/>
                    <a:lstStyle/>
                    <a:p>
                      <a:pPr algn="l"/>
                      <a:r>
                        <a:rPr sz="1400" b="1" i="0">
                          <a:solidFill>
                            <a:srgbClr val="0F172A"/>
                          </a:solidFill>
                        </a:rPr>
                        <a:t>Seed</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r"/>
                      <a:r>
                        <a:rPr sz="1400" b="1" i="0">
                          <a:solidFill>
                            <a:srgbClr val="0F172A"/>
                          </a:solidFill>
                        </a:rPr>
                        <a:t>0</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r"/>
                      <a:r>
                        <a:rPr sz="1400" b="1" i="0">
                          <a:solidFill>
                            <a:srgbClr val="0F172A"/>
                          </a:solidFill>
                        </a:rPr>
                        <a:t>1</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r"/>
                      <a:r>
                        <a:rPr sz="1400" b="1" i="0">
                          <a:solidFill>
                            <a:srgbClr val="0F172A"/>
                          </a:solidFill>
                        </a:rPr>
                        <a:t>2</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r"/>
                      <a:r>
                        <a:rPr sz="1400" b="1" i="0">
                          <a:solidFill>
                            <a:srgbClr val="0F172A"/>
                          </a:solidFill>
                        </a:rPr>
                        <a:t>3</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r"/>
                      <a:r>
                        <a:rPr sz="1400" b="1" i="0">
                          <a:solidFill>
                            <a:srgbClr val="0F172A"/>
                          </a:solidFill>
                        </a:rPr>
                        <a:t>4</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r>
              <a:tr h="365760">
                <a:tc>
                  <a:txBody>
                    <a:bodyPr wrap="square"/>
                    <a:lstStyle/>
                    <a:p>
                      <a:pPr algn="l"/>
                      <a:r>
                        <a:rPr sz="1400" b="0" i="0">
                          <a:solidFill>
                            <a:srgbClr val="1E293B"/>
                          </a:solidFill>
                        </a:rPr>
                        <a:t>Dev S2</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400" b="0" i="0">
                          <a:solidFill>
                            <a:srgbClr val="1E293B"/>
                          </a:solidFill>
                        </a:rPr>
                        <a:t>0.389</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400" b="0" i="0">
                          <a:solidFill>
                            <a:srgbClr val="1E293B"/>
                          </a:solidFill>
                        </a:rPr>
                        <a:t>0.339</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400" b="0" i="0">
                          <a:solidFill>
                            <a:srgbClr val="1E293B"/>
                          </a:solidFill>
                        </a:rPr>
                        <a:t>0.279</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400" b="0" i="0">
                          <a:solidFill>
                            <a:srgbClr val="1E293B"/>
                          </a:solidFill>
                        </a:rPr>
                        <a:t>0.311</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400" b="0" i="0">
                          <a:solidFill>
                            <a:srgbClr val="1E293B"/>
                          </a:solidFill>
                        </a:rPr>
                        <a:t>0.368</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r h="365760">
                <a:tc>
                  <a:txBody>
                    <a:bodyPr wrap="square"/>
                    <a:lstStyle/>
                    <a:p>
                      <a:pPr algn="l"/>
                      <a:r>
                        <a:rPr sz="1400" b="0" i="0">
                          <a:solidFill>
                            <a:srgbClr val="1E293B"/>
                          </a:solidFill>
                        </a:rPr>
                        <a:t>Dev S1</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400" b="0" i="0">
                          <a:solidFill>
                            <a:srgbClr val="1E293B"/>
                          </a:solidFill>
                        </a:rPr>
                        <a:t>0.642</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400" b="0" i="0">
                          <a:solidFill>
                            <a:srgbClr val="1E293B"/>
                          </a:solidFill>
                        </a:rPr>
                        <a:t>0.580</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400" b="0" i="0">
                          <a:solidFill>
                            <a:srgbClr val="1E293B"/>
                          </a:solidFill>
                        </a:rPr>
                        <a:t>0.532</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400" b="0" i="0">
                          <a:solidFill>
                            <a:srgbClr val="1E293B"/>
                          </a:solidFill>
                        </a:rPr>
                        <a:t>0.596</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400" b="0" i="0">
                          <a:solidFill>
                            <a:srgbClr val="1E293B"/>
                          </a:solidFill>
                        </a:rPr>
                        <a:t>0.579</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r>
            </a:tbl>
          </a:graphicData>
        </a:graphic>
      </p:graphicFrame>
      <p:sp>
        <p:nvSpPr>
          <p:cNvPr id="8" name="TextBox 7"/>
          <p:cNvSpPr txBox="1"/>
          <p:nvPr/>
        </p:nvSpPr>
        <p:spPr>
          <a:xfrm>
            <a:off x="5120640" y="4800600"/>
            <a:ext cx="6245352" cy="365760"/>
          </a:xfrm>
          <a:prstGeom prst="rect">
            <a:avLst/>
          </a:prstGeom>
          <a:noFill/>
        </p:spPr>
        <p:txBody>
          <a:bodyPr wrap="square" lIns="0" rIns="0" tIns="0" bIns="0" anchor="t">
            <a:noAutofit/>
          </a:bodyPr>
          <a:lstStyle/>
          <a:p>
            <a:pPr algn="l"/>
            <a:r>
              <a:rPr sz="1500" b="0" i="0">
                <a:solidFill>
                  <a:srgbClr val="1E293B"/>
                </a:solidFill>
              </a:rPr>
              <a:t>Mean  S2 </a:t>
            </a:r>
            <a:r>
              <a:rPr sz="1500" b="1" i="0">
                <a:solidFill>
                  <a:srgbClr val="1E293B"/>
                </a:solidFill>
              </a:rPr>
              <a:t>0.337 ± 0.044</a:t>
            </a:r>
            <a:r>
              <a:rPr sz="1500" b="0" i="0">
                <a:solidFill>
                  <a:srgbClr val="1E293B"/>
                </a:solidFill>
              </a:rPr>
              <a:t>   ·   S1 </a:t>
            </a:r>
            <a:r>
              <a:rPr sz="1500" b="1" i="0">
                <a:solidFill>
                  <a:srgbClr val="1E293B"/>
                </a:solidFill>
              </a:rPr>
              <a:t>0.586 ± 0.039</a:t>
            </a:r>
          </a:p>
        </p:txBody>
      </p:sp>
      <p:sp>
        <p:nvSpPr>
          <p:cNvPr id="9" name="Caption"/>
          <p:cNvSpPr txBox="1"/>
          <p:nvPr/>
        </p:nvSpPr>
        <p:spPr>
          <a:xfrm>
            <a:off x="5120640" y="5303520"/>
            <a:ext cx="6245352" cy="384048"/>
          </a:xfrm>
          <a:prstGeom prst="rect">
            <a:avLst/>
          </a:prstGeom>
          <a:noFill/>
        </p:spPr>
        <p:txBody>
          <a:bodyPr wrap="square" lIns="0" rIns="0" tIns="0" bIns="0" anchor="t">
            <a:noAutofit/>
          </a:bodyPr>
          <a:lstStyle/>
          <a:p>
            <a:pPr algn="l"/>
            <a:r>
              <a:rPr sz="1100" b="0" i="1">
                <a:solidFill>
                  <a:srgbClr val="64748B"/>
                </a:solidFill>
              </a:rPr>
              <a:t>E0c, docs/raw/E0_analysis.txt. A seed spread of 0.28–0.39 forces paired multi-seed comparisons from here 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The ranking is better than the decision</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ITERATION 2  ·  E2–E4</a:t>
            </a:r>
          </a:p>
        </p:txBody>
      </p:sp>
      <p:sp>
        <p:nvSpPr>
          <p:cNvPr id="4" name="Bullets"/>
          <p:cNvSpPr txBox="1"/>
          <p:nvPr/>
        </p:nvSpPr>
        <p:spPr>
          <a:xfrm>
            <a:off x="548640" y="1417320"/>
            <a:ext cx="4023360" cy="4846320"/>
          </a:xfrm>
          <a:prstGeom prst="rect">
            <a:avLst/>
          </a:prstGeom>
          <a:noFill/>
        </p:spPr>
        <p:txBody>
          <a:bodyPr wrap="square" lIns="0" rIns="0" tIns="0" bIns="0" anchor="ctr">
            <a:noAutofit/>
          </a:bodyPr>
          <a:lstStyle/>
          <a:p>
            <a:pPr marL="246888" indent="-246888">
              <a:lnSpc>
                <a:spcPct val="105000"/>
              </a:lnSpc>
              <a:spcAft>
                <a:spcPts val="1400"/>
              </a:spcAft>
              <a:buClr>
                <a:srgbClr val="2F5D7C"/>
              </a:buClr>
              <a:buFont typeface="Arial"/>
              <a:buChar char="•"/>
            </a:pPr>
            <a:r>
              <a:rPr sz="1800" b="0" i="0">
                <a:solidFill>
                  <a:srgbClr val="1E293B"/>
                </a:solidFill>
              </a:rPr>
              <a:t>5-seed ensemble lifts S2 from 0.337 to 0.365.</a:t>
            </a:r>
          </a:p>
          <a:p>
            <a:pPr marL="246888" indent="-246888">
              <a:lnSpc>
                <a:spcPct val="105000"/>
              </a:lnSpc>
              <a:spcAft>
                <a:spcPts val="1400"/>
              </a:spcAft>
              <a:buClr>
                <a:srgbClr val="2F5D7C"/>
              </a:buClr>
              <a:buFont typeface="Arial"/>
              <a:buChar char="•"/>
            </a:pPr>
            <a:r>
              <a:rPr sz="1800" b="0" i="0">
                <a:solidFill>
                  <a:srgbClr val="1E293B"/>
                </a:solidFill>
              </a:rPr>
              <a:t>Acceptable label in the top 3 for 90% of items (oracle 0.745).</a:t>
            </a:r>
          </a:p>
          <a:p>
            <a:pPr marL="246888" indent="-246888">
              <a:lnSpc>
                <a:spcPct val="105000"/>
              </a:lnSpc>
              <a:spcAft>
                <a:spcPts val="1400"/>
              </a:spcAft>
              <a:buClr>
                <a:srgbClr val="2F5D7C"/>
              </a:buClr>
              <a:buFont typeface="Arial"/>
              <a:buChar char="•"/>
            </a:pPr>
            <a:r>
              <a:rPr sz="1800" b="0" i="0">
                <a:solidFill>
                  <a:srgbClr val="1E293B"/>
                </a:solidFill>
              </a:rPr>
              <a:t>One-scalar logit adjustment: </a:t>
            </a:r>
            <a:r>
              <a:rPr sz="1800" b="1" i="0">
                <a:solidFill>
                  <a:srgbClr val="1E293B"/>
                </a:solidFill>
              </a:rPr>
              <a:t>0.438</a:t>
            </a:r>
            <a:r>
              <a:rPr sz="1800" b="0" i="0">
                <a:solidFill>
                  <a:srgbClr val="1E293B"/>
                </a:solidFill>
              </a:rPr>
              <a:t> held out, overfit gap only 0.018.</a:t>
            </a:r>
          </a:p>
          <a:p>
            <a:pPr marL="246888" indent="-246888">
              <a:lnSpc>
                <a:spcPct val="105000"/>
              </a:lnSpc>
              <a:spcAft>
                <a:spcPts val="1400"/>
              </a:spcAft>
              <a:buClr>
                <a:srgbClr val="2F5D7C"/>
              </a:buClr>
              <a:buFont typeface="Arial"/>
              <a:buChar char="•"/>
            </a:pPr>
            <a:r>
              <a:rPr sz="1800" b="0" i="0">
                <a:solidFill>
                  <a:srgbClr val="1E293B"/>
                </a:solidFill>
              </a:rPr>
              <a:t>Nine per-class weights overfit 308 items: gap </a:t>
            </a:r>
            <a:r>
              <a:rPr sz="1800" b="1" i="0">
                <a:solidFill>
                  <a:srgbClr val="1E293B"/>
                </a:solidFill>
              </a:rPr>
              <a:t>+0.098</a:t>
            </a:r>
            <a:r>
              <a:rPr sz="1800" b="0" i="0">
                <a:solidFill>
                  <a:srgbClr val="1E293B"/>
                </a:solidFill>
              </a:rPr>
              <a:t>.</a:t>
            </a:r>
          </a:p>
        </p:txBody>
      </p:sp>
      <p:sp>
        <p:nvSpPr>
          <p:cNvPr id="5" name="Panel: decision_rules"/>
          <p:cNvSpPr/>
          <p:nvPr/>
        </p:nvSpPr>
        <p:spPr>
          <a:xfrm>
            <a:off x="4846320" y="1851692"/>
            <a:ext cx="6793992" cy="3977574"/>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Figure: decision_rules" descr="decision_rules.png"/>
          <p:cNvPicPr>
            <a:picLocks noChangeAspect="1"/>
          </p:cNvPicPr>
          <p:nvPr/>
        </p:nvPicPr>
        <p:blipFill>
          <a:blip r:embed="rId3"/>
          <a:stretch>
            <a:fillRect/>
          </a:stretch>
        </p:blipFill>
        <p:spPr>
          <a:xfrm>
            <a:off x="5010912" y="2016284"/>
            <a:ext cx="6464807" cy="3227766"/>
          </a:xfrm>
          <a:prstGeom prst="rect">
            <a:avLst/>
          </a:prstGeom>
        </p:spPr>
      </p:pic>
      <p:sp>
        <p:nvSpPr>
          <p:cNvPr id="7" name="Caption"/>
          <p:cNvSpPr txBox="1"/>
          <p:nvPr/>
        </p:nvSpPr>
        <p:spPr>
          <a:xfrm>
            <a:off x="5120640" y="5298915"/>
            <a:ext cx="6245352" cy="365760"/>
          </a:xfrm>
          <a:prstGeom prst="rect">
            <a:avLst/>
          </a:prstGeom>
          <a:noFill/>
        </p:spPr>
        <p:txBody>
          <a:bodyPr wrap="square" lIns="0" rIns="0" tIns="0" bIns="0" anchor="t">
            <a:noAutofit/>
          </a:bodyPr>
          <a:lstStyle/>
          <a:p>
            <a:pPr algn="l"/>
            <a:r>
              <a:rPr sz="1100" b="0" i="1">
                <a:solidFill>
                  <a:srgbClr val="64748B"/>
                </a:solidFill>
              </a:rPr>
              <a:t>E4 on the E0 5-seed ensemble; every score held out by nested CV. Hatched: the rule kept for every later system.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Structure, rebalanced losses and soups do not help</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ITERATION 3  ·  E5–E12</a:t>
            </a:r>
          </a:p>
        </p:txBody>
      </p:sp>
      <p:sp>
        <p:nvSpPr>
          <p:cNvPr id="4" name="Bullets"/>
          <p:cNvSpPr txBox="1"/>
          <p:nvPr/>
        </p:nvSpPr>
        <p:spPr>
          <a:xfrm>
            <a:off x="548640" y="1417320"/>
            <a:ext cx="4023360" cy="4846320"/>
          </a:xfrm>
          <a:prstGeom prst="rect">
            <a:avLst/>
          </a:prstGeom>
          <a:noFill/>
        </p:spPr>
        <p:txBody>
          <a:bodyPr wrap="square" lIns="0" rIns="0" tIns="0" bIns="0" anchor="ctr">
            <a:noAutofit/>
          </a:bodyPr>
          <a:lstStyle/>
          <a:p>
            <a:pPr marL="246888" indent="-246888">
              <a:lnSpc>
                <a:spcPct val="105000"/>
              </a:lnSpc>
              <a:spcAft>
                <a:spcPts val="1400"/>
              </a:spcAft>
              <a:buClr>
                <a:srgbClr val="2F5D7C"/>
              </a:buClr>
              <a:buFont typeface="Arial"/>
              <a:buChar char="•"/>
            </a:pPr>
            <a:r>
              <a:rPr sz="1800" b="0" i="0">
                <a:solidFill>
                  <a:srgbClr val="1E293B"/>
                </a:solidFill>
              </a:rPr>
              <a:t>Three hierarchies (routing, factorised head, gate + specialists): none beats flat softmax.</a:t>
            </a:r>
          </a:p>
          <a:p>
            <a:pPr marL="246888" indent="-246888">
              <a:lnSpc>
                <a:spcPct val="105000"/>
              </a:lnSpc>
              <a:spcAft>
                <a:spcPts val="1400"/>
              </a:spcAft>
              <a:buClr>
                <a:srgbClr val="2F5D7C"/>
              </a:buClr>
              <a:buFont typeface="Arial"/>
              <a:buChar char="•"/>
            </a:pPr>
            <a:r>
              <a:rPr sz="1800" b="0" i="0">
                <a:solidFill>
                  <a:srgbClr val="1E293B"/>
                </a:solidFill>
              </a:rPr>
              <a:t>Definition re-ranker 0.354 vs. 0.365: same 3,448 examples, no new knowledge.</a:t>
            </a:r>
          </a:p>
          <a:p>
            <a:pPr marL="246888" indent="-246888">
              <a:lnSpc>
                <a:spcPct val="105000"/>
              </a:lnSpc>
              <a:spcAft>
                <a:spcPts val="1400"/>
              </a:spcAft>
              <a:buClr>
                <a:srgbClr val="2F5D7C"/>
              </a:buClr>
              <a:buFont typeface="Arial"/>
              <a:buChar char="•"/>
            </a:pPr>
            <a:r>
              <a:rPr sz="1800" b="0" i="0">
                <a:solidFill>
                  <a:srgbClr val="1E293B"/>
                </a:solidFill>
              </a:rPr>
              <a:t>Weight soups fail: seeds differ in head initialisation and data order.</a:t>
            </a:r>
          </a:p>
          <a:p>
            <a:pPr marL="246888" indent="-246888">
              <a:lnSpc>
                <a:spcPct val="105000"/>
              </a:lnSpc>
              <a:spcAft>
                <a:spcPts val="1400"/>
              </a:spcAft>
              <a:buClr>
                <a:srgbClr val="2F5D7C"/>
              </a:buClr>
              <a:buFont typeface="Arial"/>
              <a:buChar char="•"/>
            </a:pPr>
            <a:r>
              <a:rPr sz="1800" b="0" i="0">
                <a:solidFill>
                  <a:srgbClr val="1E293B"/>
                </a:solidFill>
              </a:rPr>
              <a:t>Balanced Softmax + focal over-corrects: Explicit F1 falls 0.679 to 0.319.</a:t>
            </a:r>
          </a:p>
        </p:txBody>
      </p:sp>
      <p:sp>
        <p:nvSpPr>
          <p:cNvPr id="5" name="Panel: negative_results"/>
          <p:cNvSpPr/>
          <p:nvPr/>
        </p:nvSpPr>
        <p:spPr>
          <a:xfrm>
            <a:off x="4846320" y="1417320"/>
            <a:ext cx="6793992" cy="4846320"/>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Figure: negative_results" descr="negative_results.png"/>
          <p:cNvPicPr>
            <a:picLocks noChangeAspect="1"/>
          </p:cNvPicPr>
          <p:nvPr/>
        </p:nvPicPr>
        <p:blipFill>
          <a:blip r:embed="rId3"/>
          <a:stretch>
            <a:fillRect/>
          </a:stretch>
        </p:blipFill>
        <p:spPr>
          <a:xfrm>
            <a:off x="5029081" y="1581912"/>
            <a:ext cx="6428468" cy="4096511"/>
          </a:xfrm>
          <a:prstGeom prst="rect">
            <a:avLst/>
          </a:prstGeom>
        </p:spPr>
      </p:pic>
      <p:sp>
        <p:nvSpPr>
          <p:cNvPr id="7" name="Caption"/>
          <p:cNvSpPr txBox="1"/>
          <p:nvPr/>
        </p:nvSpPr>
        <p:spPr>
          <a:xfrm>
            <a:off x="5120640" y="5733288"/>
            <a:ext cx="6245352" cy="365760"/>
          </a:xfrm>
          <a:prstGeom prst="rect">
            <a:avLst/>
          </a:prstGeom>
          <a:noFill/>
        </p:spPr>
        <p:txBody>
          <a:bodyPr wrap="square" lIns="0" rIns="0" tIns="0" bIns="0" anchor="t">
            <a:noAutofit/>
          </a:bodyPr>
          <a:lstStyle/>
          <a:p>
            <a:pPr algn="l"/>
            <a:r>
              <a:rPr sz="1100" b="0" i="1">
                <a:solidFill>
                  <a:srgbClr val="64748B"/>
                </a:solidFill>
              </a:rPr>
              <a:t>Each variant against its own named control (docs/02_experiment_log.md); the comparison level is printed beside each bar.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A negative result that was really undertraining</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ITERATION 4  ·  E7–E10</a:t>
            </a:r>
          </a:p>
        </p:txBody>
      </p:sp>
      <p:sp>
        <p:nvSpPr>
          <p:cNvPr id="4" name="Bullets"/>
          <p:cNvSpPr txBox="1"/>
          <p:nvPr/>
        </p:nvSpPr>
        <p:spPr>
          <a:xfrm>
            <a:off x="548640" y="1417320"/>
            <a:ext cx="4023360" cy="4846320"/>
          </a:xfrm>
          <a:prstGeom prst="rect">
            <a:avLst/>
          </a:prstGeom>
          <a:noFill/>
        </p:spPr>
        <p:txBody>
          <a:bodyPr wrap="square" lIns="0" rIns="0" tIns="0" bIns="0" anchor="ctr">
            <a:noAutofit/>
          </a:bodyPr>
          <a:lstStyle/>
          <a:p>
            <a:pPr marL="246888" indent="-246888">
              <a:lnSpc>
                <a:spcPct val="105000"/>
              </a:lnSpc>
              <a:spcAft>
                <a:spcPts val="1400"/>
              </a:spcAft>
              <a:buClr>
                <a:srgbClr val="2F5D7C"/>
              </a:buClr>
              <a:buFont typeface="Arial"/>
              <a:buChar char="•"/>
            </a:pPr>
            <a:r>
              <a:rPr sz="1800" b="0" i="0">
                <a:solidFill>
                  <a:srgbClr val="1E293B"/>
                </a:solidFill>
              </a:rPr>
              <a:t>E7: a comparable published DeBERTa (0.46) sees the full journalist question.</a:t>
            </a:r>
          </a:p>
          <a:p>
            <a:pPr marL="246888" indent="-246888">
              <a:lnSpc>
                <a:spcPct val="105000"/>
              </a:lnSpc>
              <a:spcAft>
                <a:spcPts val="1400"/>
              </a:spcAft>
              <a:buClr>
                <a:srgbClr val="2F5D7C"/>
              </a:buClr>
              <a:buFont typeface="Arial"/>
              <a:buChar char="•"/>
            </a:pPr>
            <a:r>
              <a:rPr sz="1800" b="0" i="0">
                <a:solidFill>
                  <a:srgbClr val="1E293B"/>
                </a:solidFill>
              </a:rPr>
              <a:t>E8b: full question at 8 epochs scored </a:t>
            </a:r>
            <a:r>
              <a:rPr sz="1800" b="1" i="0">
                <a:solidFill>
                  <a:srgbClr val="1E293B"/>
                </a:solidFill>
              </a:rPr>
              <a:t>below</a:t>
            </a:r>
            <a:r>
              <a:rPr sz="1800" b="0" i="0">
                <a:solidFill>
                  <a:srgbClr val="1E293B"/>
                </a:solidFill>
              </a:rPr>
              <a:t> baseline (0.282 vs. 0.337).</a:t>
            </a:r>
          </a:p>
          <a:p>
            <a:pPr marL="246888" indent="-246888">
              <a:lnSpc>
                <a:spcPct val="105000"/>
              </a:lnSpc>
              <a:spcAft>
                <a:spcPts val="1400"/>
              </a:spcAft>
              <a:buClr>
                <a:srgbClr val="2F5D7C"/>
              </a:buClr>
              <a:buFont typeface="Arial"/>
              <a:buChar char="•"/>
            </a:pPr>
            <a:r>
              <a:rPr sz="1800" b="0" i="0">
                <a:solidFill>
                  <a:srgbClr val="1E293B"/>
                </a:solidFill>
              </a:rPr>
              <a:t>Diagnosis: train loss 1.32–1.50, low confidence (top-p 0.445 vs. 0.594).</a:t>
            </a:r>
          </a:p>
          <a:p>
            <a:pPr marL="246888" indent="-246888">
              <a:lnSpc>
                <a:spcPct val="105000"/>
              </a:lnSpc>
              <a:spcAft>
                <a:spcPts val="1400"/>
              </a:spcAft>
              <a:buClr>
                <a:srgbClr val="2F5D7C"/>
              </a:buClr>
              <a:buFont typeface="Arial"/>
              <a:buChar char="•"/>
            </a:pPr>
            <a:r>
              <a:rPr sz="1800" b="0" i="0">
                <a:solidFill>
                  <a:srgbClr val="1E293B"/>
                </a:solidFill>
              </a:rPr>
              <a:t>E10: 16 epochs reverse it; full question gives the best single model.</a:t>
            </a:r>
          </a:p>
        </p:txBody>
      </p:sp>
      <p:sp>
        <p:nvSpPr>
          <p:cNvPr id="5" name="Panel: undertraining"/>
          <p:cNvSpPr/>
          <p:nvPr/>
        </p:nvSpPr>
        <p:spPr>
          <a:xfrm>
            <a:off x="4846320" y="1691074"/>
            <a:ext cx="6793992" cy="4298811"/>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Figure: undertraining" descr="undertraining.png"/>
          <p:cNvPicPr>
            <a:picLocks noChangeAspect="1"/>
          </p:cNvPicPr>
          <p:nvPr/>
        </p:nvPicPr>
        <p:blipFill>
          <a:blip r:embed="rId3"/>
          <a:stretch>
            <a:fillRect/>
          </a:stretch>
        </p:blipFill>
        <p:spPr>
          <a:xfrm>
            <a:off x="5010912" y="1855666"/>
            <a:ext cx="6464807" cy="3549003"/>
          </a:xfrm>
          <a:prstGeom prst="rect">
            <a:avLst/>
          </a:prstGeom>
        </p:spPr>
      </p:pic>
      <p:sp>
        <p:nvSpPr>
          <p:cNvPr id="7" name="Caption"/>
          <p:cNvSpPr txBox="1"/>
          <p:nvPr/>
        </p:nvSpPr>
        <p:spPr>
          <a:xfrm>
            <a:off x="5120640" y="5459533"/>
            <a:ext cx="6245352" cy="365760"/>
          </a:xfrm>
          <a:prstGeom prst="rect">
            <a:avLst/>
          </a:prstGeom>
          <a:noFill/>
        </p:spPr>
        <p:txBody>
          <a:bodyPr wrap="square" lIns="0" rIns="0" tIns="0" bIns="0" anchor="t">
            <a:noAutofit/>
          </a:bodyPr>
          <a:lstStyle/>
          <a:p>
            <a:pPr algn="l"/>
            <a:r>
              <a:rPr sz="1100" b="0" i="1">
                <a:solidFill>
                  <a:srgbClr val="64748B"/>
                </a:solidFill>
              </a:rPr>
              <a:t>Single-model dev S2, seeds 0–4, paired: E0 → E10 control (a), E8b → E10 (b).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Per-model gains replicate; five-seed systems do not</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ITERATION 5  ·  E10–E11</a:t>
            </a:r>
          </a:p>
        </p:txBody>
      </p:sp>
      <p:sp>
        <p:nvSpPr>
          <p:cNvPr id="4" name="Bullets"/>
          <p:cNvSpPr txBox="1"/>
          <p:nvPr/>
        </p:nvSpPr>
        <p:spPr>
          <a:xfrm>
            <a:off x="548640" y="1417320"/>
            <a:ext cx="4023360" cy="4846320"/>
          </a:xfrm>
          <a:prstGeom prst="rect">
            <a:avLst/>
          </a:prstGeom>
          <a:noFill/>
        </p:spPr>
        <p:txBody>
          <a:bodyPr wrap="square" lIns="0" rIns="0" tIns="0" bIns="0" anchor="ctr">
            <a:noAutofit/>
          </a:bodyPr>
          <a:lstStyle/>
          <a:p>
            <a:pPr marL="246888" indent="-246888">
              <a:lnSpc>
                <a:spcPct val="105000"/>
              </a:lnSpc>
              <a:spcAft>
                <a:spcPts val="1400"/>
              </a:spcAft>
              <a:buClr>
                <a:srgbClr val="2F5D7C"/>
              </a:buClr>
              <a:buFont typeface="Arial"/>
              <a:buChar char="•"/>
            </a:pPr>
            <a:r>
              <a:rPr sz="1800" b="0" i="0">
                <a:solidFill>
                  <a:srgbClr val="1E293B"/>
                </a:solidFill>
              </a:rPr>
              <a:t>E11 reruns all three configurations on seeds 5–9: ten paired seeds.</a:t>
            </a:r>
          </a:p>
          <a:p>
            <a:pPr marL="246888" indent="-246888">
              <a:lnSpc>
                <a:spcPct val="105000"/>
              </a:lnSpc>
              <a:spcAft>
                <a:spcPts val="1400"/>
              </a:spcAft>
              <a:buClr>
                <a:srgbClr val="2F5D7C"/>
              </a:buClr>
              <a:buFont typeface="Arial"/>
              <a:buChar char="•"/>
            </a:pPr>
            <a:r>
              <a:rPr sz="1800" b="0" i="0">
                <a:solidFill>
                  <a:srgbClr val="1E293B"/>
                </a:solidFill>
              </a:rPr>
              <a:t>Per model: S2 0.315 → </a:t>
            </a:r>
            <a:r>
              <a:rPr sz="1800" b="1" i="0">
                <a:solidFill>
                  <a:srgbClr val="1E293B"/>
                </a:solidFill>
              </a:rPr>
              <a:t>0.384</a:t>
            </a:r>
            <a:r>
              <a:rPr sz="1800" b="0" i="0">
                <a:solidFill>
                  <a:srgbClr val="1E293B"/>
                </a:solidFill>
              </a:rPr>
              <a:t>, S1 0.576 → 0.614, 9 of 10 seeds up.</a:t>
            </a:r>
          </a:p>
          <a:p>
            <a:pPr marL="246888" indent="-246888">
              <a:lnSpc>
                <a:spcPct val="105000"/>
              </a:lnSpc>
              <a:spcAft>
                <a:spcPts val="1400"/>
              </a:spcAft>
              <a:buClr>
                <a:srgbClr val="2F5D7C"/>
              </a:buClr>
              <a:buFont typeface="Arial"/>
              <a:buChar char="•"/>
            </a:pPr>
            <a:r>
              <a:rPr sz="1800" b="0" i="0">
                <a:solidFill>
                  <a:srgbClr val="1E293B"/>
                </a:solidFill>
              </a:rPr>
              <a:t>Five-seed systems swing 0.08; E10's 0.478 fell to 0.434 on new seeds.</a:t>
            </a:r>
          </a:p>
          <a:p>
            <a:pPr marL="246888" indent="-246888">
              <a:lnSpc>
                <a:spcPct val="105000"/>
              </a:lnSpc>
              <a:spcAft>
                <a:spcPts val="1400"/>
              </a:spcAft>
              <a:buClr>
                <a:srgbClr val="2F5D7C"/>
              </a:buClr>
              <a:buFont typeface="Arial"/>
              <a:buChar char="•"/>
            </a:pPr>
            <a:r>
              <a:rPr sz="1800" b="0" i="0">
                <a:solidFill>
                  <a:srgbClr val="1E293B"/>
                </a:solidFill>
              </a:rPr>
              <a:t>Final DeBERTa system, by pre-registered rule: </a:t>
            </a:r>
            <a:r>
              <a:rPr sz="1800" b="1" i="0">
                <a:solidFill>
                  <a:srgbClr val="1E293B"/>
                </a:solidFill>
              </a:rPr>
              <a:t>0.405 S2, 0.648 S1</a:t>
            </a:r>
            <a:r>
              <a:rPr sz="1800" b="0" i="0">
                <a:solidFill>
                  <a:srgbClr val="1E293B"/>
                </a:solidFill>
              </a:rPr>
              <a:t>.</a:t>
            </a:r>
          </a:p>
        </p:txBody>
      </p:sp>
      <p:sp>
        <p:nvSpPr>
          <p:cNvPr id="5" name="Panel: deberta_seeds"/>
          <p:cNvSpPr/>
          <p:nvPr/>
        </p:nvSpPr>
        <p:spPr>
          <a:xfrm>
            <a:off x="4846320" y="1710362"/>
            <a:ext cx="6793992" cy="4260235"/>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Figure: deberta_seeds" descr="deberta_seeds.png"/>
          <p:cNvPicPr>
            <a:picLocks noChangeAspect="1"/>
          </p:cNvPicPr>
          <p:nvPr/>
        </p:nvPicPr>
        <p:blipFill>
          <a:blip r:embed="rId3"/>
          <a:stretch>
            <a:fillRect/>
          </a:stretch>
        </p:blipFill>
        <p:spPr>
          <a:xfrm>
            <a:off x="5010912" y="1874954"/>
            <a:ext cx="6464807" cy="3510427"/>
          </a:xfrm>
          <a:prstGeom prst="rect">
            <a:avLst/>
          </a:prstGeom>
        </p:spPr>
      </p:pic>
      <p:sp>
        <p:nvSpPr>
          <p:cNvPr id="7" name="Caption"/>
          <p:cNvSpPr txBox="1"/>
          <p:nvPr/>
        </p:nvSpPr>
        <p:spPr>
          <a:xfrm>
            <a:off x="5120640" y="5440245"/>
            <a:ext cx="6245352" cy="365760"/>
          </a:xfrm>
          <a:prstGeom prst="rect">
            <a:avLst/>
          </a:prstGeom>
          <a:noFill/>
        </p:spPr>
        <p:txBody>
          <a:bodyPr wrap="square" lIns="0" rIns="0" tIns="0" bIns="0" anchor="t">
            <a:noAutofit/>
          </a:bodyPr>
          <a:lstStyle/>
          <a:p>
            <a:pPr algn="l"/>
            <a:r>
              <a:rPr sz="1100" b="0" i="1">
                <a:solidFill>
                  <a:srgbClr val="64748B"/>
                </a:solidFill>
              </a:rPr>
              <a:t>Report Figure 2. Open circles: one seed, paired across configurations; squares: mean ± 1 s.d. over 10 seeds.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Swapping only the backbone tests the knowledge hypothesis</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ITERATION 6  ·  E13</a:t>
            </a:r>
          </a:p>
        </p:txBody>
      </p:sp>
      <p:sp>
        <p:nvSpPr>
          <p:cNvPr id="4" name="Bullets"/>
          <p:cNvSpPr txBox="1"/>
          <p:nvPr/>
        </p:nvSpPr>
        <p:spPr>
          <a:xfrm>
            <a:off x="548640" y="1417320"/>
            <a:ext cx="4023360" cy="4846320"/>
          </a:xfrm>
          <a:prstGeom prst="rect">
            <a:avLst/>
          </a:prstGeom>
          <a:noFill/>
        </p:spPr>
        <p:txBody>
          <a:bodyPr wrap="square" lIns="0" rIns="0" tIns="0" bIns="0" anchor="ctr">
            <a:noAutofit/>
          </a:bodyPr>
          <a:lstStyle/>
          <a:p>
            <a:pPr marL="246888" indent="-246888">
              <a:lnSpc>
                <a:spcPct val="105000"/>
              </a:lnSpc>
              <a:spcAft>
                <a:spcPts val="1400"/>
              </a:spcAft>
              <a:buClr>
                <a:srgbClr val="2F5D7C"/>
              </a:buClr>
              <a:buFont typeface="Arial"/>
              <a:buChar char="•"/>
            </a:pPr>
            <a:r>
              <a:rPr sz="1800" b="0" i="0">
                <a:solidFill>
                  <a:srgbClr val="1E293B"/>
                </a:solidFill>
              </a:rPr>
              <a:t>Remaining hypothesis: the 0.4B encoder lacks </a:t>
            </a:r>
            <a:r>
              <a:rPr sz="1800" b="1" i="0">
                <a:solidFill>
                  <a:srgbClr val="1E293B"/>
                </a:solidFill>
              </a:rPr>
              <a:t>knowledge</a:t>
            </a:r>
            <a:r>
              <a:rPr sz="1800" b="0" i="0">
                <a:solidFill>
                  <a:srgbClr val="1E293B"/>
                </a:solidFill>
              </a:rPr>
              <a:t>, not rule or labels.</a:t>
            </a:r>
          </a:p>
          <a:p>
            <a:pPr marL="246888" indent="-246888">
              <a:lnSpc>
                <a:spcPct val="105000"/>
              </a:lnSpc>
              <a:spcAft>
                <a:spcPts val="1400"/>
              </a:spcAft>
              <a:buClr>
                <a:srgbClr val="2F5D7C"/>
              </a:buClr>
              <a:buFont typeface="Arial"/>
              <a:buChar char="•"/>
            </a:pPr>
            <a:r>
              <a:rPr sz="1800" b="0" i="0">
                <a:solidFill>
                  <a:srgbClr val="1E293B"/>
                </a:solidFill>
              </a:rPr>
              <a:t>Swap DeBERTa for Qwen3-8B-Base with LoRA r = 16 on all linear layers.</a:t>
            </a:r>
          </a:p>
          <a:p>
            <a:pPr marL="246888" indent="-246888">
              <a:lnSpc>
                <a:spcPct val="105000"/>
              </a:lnSpc>
              <a:spcAft>
                <a:spcPts val="1400"/>
              </a:spcAft>
              <a:buClr>
                <a:srgbClr val="2F5D7C"/>
              </a:buClr>
              <a:buFont typeface="Arial"/>
              <a:buChar char="•"/>
            </a:pPr>
            <a:r>
              <a:rPr sz="1800" b="0" i="0">
                <a:solidFill>
                  <a:srgbClr val="1E293B"/>
                </a:solidFill>
              </a:rPr>
              <a:t>Same rows, input, slice, loss and selection; a padding self-check guards the head.</a:t>
            </a:r>
          </a:p>
          <a:p>
            <a:pPr marL="246888" indent="-246888">
              <a:lnSpc>
                <a:spcPct val="105000"/>
              </a:lnSpc>
              <a:spcAft>
                <a:spcPts val="1400"/>
              </a:spcAft>
              <a:buClr>
                <a:srgbClr val="2F5D7C"/>
              </a:buClr>
              <a:buFont typeface="Arial"/>
              <a:buChar char="•"/>
            </a:pPr>
            <a:r>
              <a:rPr sz="1800" b="0" i="0">
                <a:solidFill>
                  <a:srgbClr val="1E293B"/>
                </a:solidFill>
              </a:rPr>
              <a:t>Screen +0.081 (3/3), then ten seeds: S2 </a:t>
            </a:r>
            <a:r>
              <a:rPr sz="1800" b="1" i="0">
                <a:solidFill>
                  <a:srgbClr val="1E293B"/>
                </a:solidFill>
              </a:rPr>
              <a:t>+0.092</a:t>
            </a:r>
            <a:r>
              <a:rPr sz="1800" b="0" i="0">
                <a:solidFill>
                  <a:srgbClr val="1E293B"/>
                </a:solidFill>
              </a:rPr>
              <a:t>, S1 </a:t>
            </a:r>
            <a:r>
              <a:rPr sz="1800" b="1" i="0">
                <a:solidFill>
                  <a:srgbClr val="1E293B"/>
                </a:solidFill>
              </a:rPr>
              <a:t>+0.095</a:t>
            </a:r>
            <a:r>
              <a:rPr sz="1800" b="0" i="0">
                <a:solidFill>
                  <a:srgbClr val="1E293B"/>
                </a:solidFill>
              </a:rPr>
              <a:t>, 10/10.</a:t>
            </a:r>
          </a:p>
        </p:txBody>
      </p:sp>
      <p:sp>
        <p:nvSpPr>
          <p:cNvPr id="5" name="Panel"/>
          <p:cNvSpPr/>
          <p:nvPr/>
        </p:nvSpPr>
        <p:spPr>
          <a:xfrm>
            <a:off x="4846320" y="1860804"/>
            <a:ext cx="6793992" cy="3959352"/>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120640" y="2135124"/>
            <a:ext cx="6245352" cy="274320"/>
          </a:xfrm>
          <a:prstGeom prst="rect">
            <a:avLst/>
          </a:prstGeom>
          <a:noFill/>
        </p:spPr>
        <p:txBody>
          <a:bodyPr wrap="square" lIns="0" rIns="0" tIns="0" bIns="0" anchor="t">
            <a:noAutofit/>
          </a:bodyPr>
          <a:lstStyle/>
          <a:p>
            <a:pPr algn="l"/>
            <a:r>
              <a:rPr sz="1300" b="1" i="0">
                <a:solidFill>
                  <a:srgbClr val="64748B"/>
                </a:solidFill>
              </a:rPr>
              <a:t>Registered before the run, checked after</a:t>
            </a:r>
          </a:p>
        </p:txBody>
      </p:sp>
      <p:graphicFrame>
        <p:nvGraphicFramePr>
          <p:cNvPr id="7" name="Table"/>
          <p:cNvGraphicFramePr>
            <a:graphicFrameLocks noGrp="1"/>
          </p:cNvGraphicFramePr>
          <p:nvPr/>
        </p:nvGraphicFramePr>
        <p:xfrm>
          <a:off x="5120640" y="2500884"/>
          <a:ext cx="6245352" cy="2523744"/>
        </p:xfrm>
        <a:graphic>
          <a:graphicData uri="http://schemas.openxmlformats.org/drawingml/2006/table">
            <a:tbl>
              <a:tblPr firstRow="0" bandRow="0">
                <a:tableStyleId>{2D5ABB26-0587-4C30-8999-92F81FD0307C}</a:tableStyleId>
              </a:tblPr>
              <a:tblGrid>
                <a:gridCol w="2743200"/>
                <a:gridCol w="2377440"/>
                <a:gridCol w="1124712"/>
              </a:tblGrid>
              <a:tr h="420624">
                <a:tc>
                  <a:txBody>
                    <a:bodyPr wrap="square"/>
                    <a:lstStyle/>
                    <a:p>
                      <a:pPr algn="l"/>
                      <a:r>
                        <a:rPr sz="1300" b="1" i="0">
                          <a:solidFill>
                            <a:srgbClr val="0F172A"/>
                          </a:solidFill>
                        </a:rPr>
                        <a:t>Prediction</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l"/>
                      <a:r>
                        <a:rPr sz="1300" b="1" i="0">
                          <a:solidFill>
                            <a:srgbClr val="0F172A"/>
                          </a:solidFill>
                        </a:rPr>
                        <a:t>Observed</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l"/>
                      <a:r>
                        <a:rPr sz="1300" b="1" i="0">
                          <a:solidFill>
                            <a:srgbClr val="0F172A"/>
                          </a:solidFill>
                        </a:rPr>
                        <a:t>Verdict</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r>
              <a:tr h="420624">
                <a:tc>
                  <a:txBody>
                    <a:bodyPr wrap="square"/>
                    <a:lstStyle/>
                    <a:p>
                      <a:pPr algn="l"/>
                      <a:r>
                        <a:rPr sz="1300" b="0" i="0">
                          <a:solidFill>
                            <a:srgbClr val="1E293B"/>
                          </a:solidFill>
                        </a:rPr>
                        <a:t>Passes the 3-seed screen</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l"/>
                      <a:r>
                        <a:rPr sz="1300" b="0" i="0">
                          <a:solidFill>
                            <a:srgbClr val="1E293B"/>
                          </a:solidFill>
                        </a:rPr>
                        <a:t>+0.081, 3 of 3 seeds</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l"/>
                      <a:r>
                        <a:rPr sz="1300" b="0" i="0">
                          <a:solidFill>
                            <a:srgbClr val="1E293B"/>
                          </a:solidFill>
                        </a:rPr>
                        <a:t>held</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r h="420624">
                <a:tc>
                  <a:txBody>
                    <a:bodyPr wrap="square"/>
                    <a:lstStyle/>
                    <a:p>
                      <a:pPr algn="l"/>
                      <a:r>
                        <a:rPr sz="1300" b="0" i="0">
                          <a:solidFill>
                            <a:srgbClr val="1E293B"/>
                          </a:solidFill>
                        </a:rPr>
                        <a:t>Single-model S2 in 0.43–0.50</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l"/>
                      <a:r>
                        <a:rPr sz="1300" b="0" i="0">
                          <a:solidFill>
                            <a:srgbClr val="1E293B"/>
                          </a:solidFill>
                        </a:rPr>
                        <a:t>0.476 ± 0.043</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l"/>
                      <a:r>
                        <a:rPr sz="1300" b="0" i="0">
                          <a:solidFill>
                            <a:srgbClr val="1E293B"/>
                          </a:solidFill>
                        </a:rPr>
                        <a:t>held</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r>
              <a:tr h="420624">
                <a:tc>
                  <a:txBody>
                    <a:bodyPr wrap="square"/>
                    <a:lstStyle/>
                    <a:p>
                      <a:pPr algn="l"/>
                      <a:r>
                        <a:rPr sz="1300" b="0" i="0">
                          <a:solidFill>
                            <a:srgbClr val="1E293B"/>
                          </a:solidFill>
                        </a:rPr>
                        <a:t>S1 gain of +0.02 to +0.05</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l"/>
                      <a:r>
                        <a:rPr sz="1300" b="0" i="0">
                          <a:solidFill>
                            <a:srgbClr val="1E293B"/>
                          </a:solidFill>
                        </a:rPr>
                        <a:t>+0.095</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l"/>
                      <a:r>
                        <a:rPr sz="1300" b="0" i="0">
                          <a:solidFill>
                            <a:srgbClr val="1E293B"/>
                          </a:solidFill>
                        </a:rPr>
                        <a:t>exceeded</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r h="420624">
                <a:tc>
                  <a:txBody>
                    <a:bodyPr wrap="square"/>
                    <a:lstStyle/>
                    <a:p>
                      <a:pPr algn="l"/>
                      <a:r>
                        <a:rPr sz="1300" b="0" i="0">
                          <a:solidFill>
                            <a:srgbClr val="1E293B"/>
                          </a:solidFill>
                        </a:rPr>
                        <a:t>Gain on the commitment boundary</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l"/>
                      <a:r>
                        <a:rPr sz="1300" b="0" i="0">
                          <a:solidFill>
                            <a:srgbClr val="1E293B"/>
                          </a:solidFill>
                        </a:rPr>
                        <a:t>largest on Non-Reply types</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l"/>
                      <a:r>
                        <a:rPr sz="1300" b="1" i="0">
                          <a:solidFill>
                            <a:srgbClr val="1E293B"/>
                          </a:solidFill>
                        </a:rPr>
                        <a:t>wrong</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r>
              <a:tr h="420624">
                <a:tc>
                  <a:txBody>
                    <a:bodyPr wrap="square"/>
                    <a:lstStyle/>
                    <a:p>
                      <a:pPr algn="l"/>
                      <a:r>
                        <a:rPr sz="1300" b="0" i="0">
                          <a:solidFill>
                            <a:srgbClr val="1E293B"/>
                          </a:solidFill>
                        </a:rPr>
                        <a:t>Larger gain on agreed items</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l"/>
                      <a:r>
                        <a:rPr sz="1300" b="0" i="0">
                          <a:solidFill>
                            <a:srgbClr val="1E293B"/>
                          </a:solidFill>
                        </a:rPr>
                        <a:t>+0.076 agreed, +0.105 split</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l"/>
                      <a:r>
                        <a:rPr sz="1300" b="1" i="0">
                          <a:solidFill>
                            <a:srgbClr val="1E293B"/>
                          </a:solidFill>
                        </a:rPr>
                        <a:t>wrong</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bl>
          </a:graphicData>
        </a:graphic>
      </p:graphicFrame>
      <p:sp>
        <p:nvSpPr>
          <p:cNvPr id="8" name="Caption"/>
          <p:cNvSpPr txBox="1"/>
          <p:nvPr/>
        </p:nvSpPr>
        <p:spPr>
          <a:xfrm>
            <a:off x="5120640" y="5161788"/>
            <a:ext cx="6245352" cy="384048"/>
          </a:xfrm>
          <a:prstGeom prst="rect">
            <a:avLst/>
          </a:prstGeom>
          <a:noFill/>
        </p:spPr>
        <p:txBody>
          <a:bodyPr wrap="square" lIns="0" rIns="0" tIns="0" bIns="0" anchor="t">
            <a:noAutofit/>
          </a:bodyPr>
          <a:lstStyle/>
          <a:p>
            <a:pPr algn="l"/>
            <a:r>
              <a:rPr sz="1100" b="0" i="1">
                <a:solidFill>
                  <a:srgbClr val="64748B"/>
                </a:solidFill>
              </a:rPr>
              <a:t>Predictions: docs/02_experiment_log.md §E13. Outcomes: docs/raw/E13_final_analysis.txt (in-set rate by annotator agreement).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The 8B gain is broad, not on the expected boundary</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ITERATION 7  ·  E13</a:t>
            </a:r>
          </a:p>
        </p:txBody>
      </p:sp>
      <p:sp>
        <p:nvSpPr>
          <p:cNvPr id="4" name="Bullets"/>
          <p:cNvSpPr txBox="1"/>
          <p:nvPr/>
        </p:nvSpPr>
        <p:spPr>
          <a:xfrm>
            <a:off x="548640" y="1417320"/>
            <a:ext cx="4023360" cy="4846320"/>
          </a:xfrm>
          <a:prstGeom prst="rect">
            <a:avLst/>
          </a:prstGeom>
          <a:noFill/>
        </p:spPr>
        <p:txBody>
          <a:bodyPr wrap="square" lIns="0" rIns="0" tIns="0" bIns="0" anchor="ctr">
            <a:noAutofit/>
          </a:bodyPr>
          <a:lstStyle/>
          <a:p>
            <a:pPr marL="246888" indent="-246888">
              <a:lnSpc>
                <a:spcPct val="105000"/>
              </a:lnSpc>
              <a:spcAft>
                <a:spcPts val="1400"/>
              </a:spcAft>
              <a:buClr>
                <a:srgbClr val="2F5D7C"/>
              </a:buClr>
              <a:buFont typeface="Arial"/>
              <a:buChar char="•"/>
            </a:pPr>
            <a:r>
              <a:rPr sz="1800" b="0" i="0">
                <a:solidFill>
                  <a:srgbClr val="1E293B"/>
                </a:solidFill>
              </a:rPr>
              <a:t>Per-class F1 rises in 7 of 9 classes.</a:t>
            </a:r>
          </a:p>
          <a:p>
            <a:pPr marL="246888" indent="-246888">
              <a:lnSpc>
                <a:spcPct val="105000"/>
              </a:lnSpc>
              <a:spcAft>
                <a:spcPts val="1400"/>
              </a:spcAft>
              <a:buClr>
                <a:srgbClr val="2F5D7C"/>
              </a:buClr>
              <a:buFont typeface="Arial"/>
              <a:buChar char="•"/>
            </a:pPr>
            <a:r>
              <a:rPr sz="1800" b="0" i="0">
                <a:solidFill>
                  <a:srgbClr val="1E293B"/>
                </a:solidFill>
              </a:rPr>
              <a:t>Largest gains on Non-Reply types: Claims ignorance </a:t>
            </a:r>
            <a:r>
              <a:rPr sz="1800" b="1" i="0">
                <a:solidFill>
                  <a:srgbClr val="1E293B"/>
                </a:solidFill>
              </a:rPr>
              <a:t>+0.403</a:t>
            </a:r>
            <a:r>
              <a:rPr sz="1800" b="0" i="0">
                <a:solidFill>
                  <a:srgbClr val="1E293B"/>
                </a:solidFill>
              </a:rPr>
              <a:t>, Declining </a:t>
            </a:r>
            <a:r>
              <a:rPr sz="1800" b="1" i="0">
                <a:solidFill>
                  <a:srgbClr val="1E293B"/>
                </a:solidFill>
              </a:rPr>
              <a:t>+0.220</a:t>
            </a:r>
            <a:r>
              <a:rPr sz="1800" b="0" i="0">
                <a:solidFill>
                  <a:srgbClr val="1E293B"/>
                </a:solidFill>
              </a:rPr>
              <a:t>.</a:t>
            </a:r>
          </a:p>
          <a:p>
            <a:pPr marL="246888" indent="-246888">
              <a:lnSpc>
                <a:spcPct val="105000"/>
              </a:lnSpc>
              <a:spcAft>
                <a:spcPts val="1400"/>
              </a:spcAft>
              <a:buClr>
                <a:srgbClr val="2F5D7C"/>
              </a:buClr>
              <a:buFont typeface="Arial"/>
              <a:buChar char="•"/>
            </a:pPr>
            <a:r>
              <a:rPr sz="1800" b="0" i="0">
                <a:solidFill>
                  <a:srgbClr val="1E293B"/>
                </a:solidFill>
              </a:rPr>
              <a:t>Commitment classes move least: Implicit +0.040, Explicit +0.057.</a:t>
            </a:r>
          </a:p>
          <a:p>
            <a:pPr marL="246888" indent="-246888">
              <a:lnSpc>
                <a:spcPct val="105000"/>
              </a:lnSpc>
              <a:spcAft>
                <a:spcPts val="1400"/>
              </a:spcAft>
              <a:buClr>
                <a:srgbClr val="2F5D7C"/>
              </a:buClr>
              <a:buFont typeface="Arial"/>
              <a:buChar char="•"/>
            </a:pPr>
            <a:r>
              <a:rPr sz="1800" b="0" i="0">
                <a:solidFill>
                  <a:srgbClr val="1E293B"/>
                </a:solidFill>
              </a:rPr>
              <a:t>In-set gain similar on agreed (+0.076) and split items (+0.105).</a:t>
            </a:r>
          </a:p>
        </p:txBody>
      </p:sp>
      <p:sp>
        <p:nvSpPr>
          <p:cNvPr id="5" name="Panel: per_class_gain"/>
          <p:cNvSpPr/>
          <p:nvPr/>
        </p:nvSpPr>
        <p:spPr>
          <a:xfrm>
            <a:off x="4846320" y="1417320"/>
            <a:ext cx="6793992" cy="4846320"/>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Figure: per_class_gain" descr="per_class_gain.png"/>
          <p:cNvPicPr>
            <a:picLocks noChangeAspect="1"/>
          </p:cNvPicPr>
          <p:nvPr/>
        </p:nvPicPr>
        <p:blipFill>
          <a:blip r:embed="rId3"/>
          <a:stretch>
            <a:fillRect/>
          </a:stretch>
        </p:blipFill>
        <p:spPr>
          <a:xfrm>
            <a:off x="5059680" y="1581912"/>
            <a:ext cx="6367272" cy="4096511"/>
          </a:xfrm>
          <a:prstGeom prst="rect">
            <a:avLst/>
          </a:prstGeom>
        </p:spPr>
      </p:pic>
      <p:sp>
        <p:nvSpPr>
          <p:cNvPr id="7" name="Caption"/>
          <p:cNvSpPr txBox="1"/>
          <p:nvPr/>
        </p:nvSpPr>
        <p:spPr>
          <a:xfrm>
            <a:off x="5120640" y="5733288"/>
            <a:ext cx="6245352" cy="365760"/>
          </a:xfrm>
          <a:prstGeom prst="rect">
            <a:avLst/>
          </a:prstGeom>
          <a:noFill/>
        </p:spPr>
        <p:txBody>
          <a:bodyPr wrap="square" lIns="0" rIns="0" tIns="0" bIns="0" anchor="t">
            <a:noAutofit/>
          </a:bodyPr>
          <a:lstStyle/>
          <a:p>
            <a:pPr algn="l"/>
            <a:r>
              <a:rPr sz="1100" b="0" i="1">
                <a:solidFill>
                  <a:srgbClr val="64748B"/>
                </a:solidFill>
              </a:rPr>
              <a:t>Report Table 4: single models averaged over the same 10 seeds; dashed lines separate the clarity levels.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Longer training adopted; all-of-train unresolved</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ITERATION 8  ·  E13B, E13C</a:t>
            </a:r>
          </a:p>
        </p:txBody>
      </p:sp>
      <p:sp>
        <p:nvSpPr>
          <p:cNvPr id="4" name="Bullets"/>
          <p:cNvSpPr txBox="1"/>
          <p:nvPr/>
        </p:nvSpPr>
        <p:spPr>
          <a:xfrm>
            <a:off x="548640" y="1417320"/>
            <a:ext cx="4023360" cy="4846320"/>
          </a:xfrm>
          <a:prstGeom prst="rect">
            <a:avLst/>
          </a:prstGeom>
          <a:noFill/>
        </p:spPr>
        <p:txBody>
          <a:bodyPr wrap="square" lIns="0" rIns="0" tIns="0" bIns="0" anchor="ctr">
            <a:noAutofit/>
          </a:bodyPr>
          <a:lstStyle/>
          <a:p>
            <a:pPr marL="246888" indent="-246888">
              <a:lnSpc>
                <a:spcPct val="105000"/>
              </a:lnSpc>
              <a:spcAft>
                <a:spcPts val="1400"/>
              </a:spcAft>
              <a:buClr>
                <a:srgbClr val="2F5D7C"/>
              </a:buClr>
              <a:buFont typeface="Arial"/>
              <a:buChar char="•"/>
            </a:pPr>
            <a:r>
              <a:rPr sz="1800" b="0" i="0">
                <a:solidFill>
                  <a:srgbClr val="1E293B"/>
                </a:solidFill>
              </a:rPr>
              <a:t>12 epochs: slice F1 </a:t>
            </a:r>
            <a:r>
              <a:rPr sz="1800" b="1" i="0">
                <a:solidFill>
                  <a:srgbClr val="1E293B"/>
                </a:solidFill>
              </a:rPr>
              <a:t>+0.084</a:t>
            </a:r>
            <a:r>
              <a:rPr sz="1800" b="0" i="0">
                <a:solidFill>
                  <a:srgbClr val="1E293B"/>
                </a:solidFill>
              </a:rPr>
              <a:t> on all three seeds; adopted by registered rule.</a:t>
            </a:r>
          </a:p>
          <a:p>
            <a:pPr marL="246888" indent="-246888">
              <a:lnSpc>
                <a:spcPct val="105000"/>
              </a:lnSpc>
              <a:spcAft>
                <a:spcPts val="1400"/>
              </a:spcAft>
              <a:buClr>
                <a:srgbClr val="2F5D7C"/>
              </a:buClr>
              <a:buFont typeface="Arial"/>
              <a:buChar char="•"/>
            </a:pPr>
            <a:r>
              <a:rPr sz="1800" b="0" i="0">
                <a:solidFill>
                  <a:srgbClr val="1E293B"/>
                </a:solidFill>
              </a:rPr>
              <a:t>Selected epochs 8–11; train loss near 0.02 with no slice decline.</a:t>
            </a:r>
          </a:p>
          <a:p>
            <a:pPr marL="246888" indent="-246888">
              <a:lnSpc>
                <a:spcPct val="105000"/>
              </a:lnSpc>
              <a:spcAft>
                <a:spcPts val="1400"/>
              </a:spcAft>
              <a:buClr>
                <a:srgbClr val="2F5D7C"/>
              </a:buClr>
              <a:buFont typeface="Arial"/>
              <a:buChar char="•"/>
            </a:pPr>
            <a:r>
              <a:rPr sz="1800" b="0" i="0">
                <a:solidFill>
                  <a:srgbClr val="1E293B"/>
                </a:solidFill>
              </a:rPr>
              <a:t>All of train: +0.017 per model (6/10); system interval spans zero.</a:t>
            </a:r>
          </a:p>
          <a:p>
            <a:pPr marL="246888" indent="-246888">
              <a:lnSpc>
                <a:spcPct val="105000"/>
              </a:lnSpc>
              <a:spcAft>
                <a:spcPts val="1400"/>
              </a:spcAft>
              <a:buClr>
                <a:srgbClr val="2F5D7C"/>
              </a:buClr>
              <a:buFont typeface="Arial"/>
              <a:buChar char="•"/>
            </a:pPr>
            <a:r>
              <a:rPr sz="1800" b="0" i="0">
                <a:solidFill>
                  <a:srgbClr val="1E293B"/>
                </a:solidFill>
              </a:rPr>
              <a:t>Mixing Qwen and DeBERTa probabilities adds nothing (0.543 vs. 0.549).</a:t>
            </a:r>
          </a:p>
        </p:txBody>
      </p:sp>
      <p:sp>
        <p:nvSpPr>
          <p:cNvPr id="5" name="Panel"/>
          <p:cNvSpPr/>
          <p:nvPr/>
        </p:nvSpPr>
        <p:spPr>
          <a:xfrm>
            <a:off x="4846320" y="1956816"/>
            <a:ext cx="6793992" cy="3767328"/>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6" name="Table"/>
          <p:cNvGraphicFramePr>
            <a:graphicFrameLocks noGrp="1"/>
          </p:cNvGraphicFramePr>
          <p:nvPr/>
        </p:nvGraphicFramePr>
        <p:xfrm>
          <a:off x="5120640" y="2231136"/>
          <a:ext cx="6245352" cy="1828800"/>
        </p:xfrm>
        <a:graphic>
          <a:graphicData uri="http://schemas.openxmlformats.org/drawingml/2006/table">
            <a:tbl>
              <a:tblPr firstRow="0" bandRow="0">
                <a:tableStyleId>{2D5ABB26-0587-4C30-8999-92F81FD0307C}</a:tableStyleId>
              </a:tblPr>
              <a:tblGrid>
                <a:gridCol w="2286000"/>
                <a:gridCol w="1188720"/>
                <a:gridCol w="1188720"/>
                <a:gridCol w="777240"/>
                <a:gridCol w="804672"/>
              </a:tblGrid>
              <a:tr h="457200">
                <a:tc>
                  <a:txBody>
                    <a:bodyPr wrap="square"/>
                    <a:lstStyle/>
                    <a:p>
                      <a:pPr algn="l"/>
                      <a:r>
                        <a:rPr sz="1300" b="1" i="0">
                          <a:solidFill>
                            <a:srgbClr val="0F172A"/>
                          </a:solidFill>
                        </a:rPr>
                        <a:t>Follow-up (one change)</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r"/>
                      <a:r>
                        <a:rPr sz="1300" b="1" i="0">
                          <a:solidFill>
                            <a:srgbClr val="0F172A"/>
                          </a:solidFill>
                        </a:rPr>
                        <a:t>Variant</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r"/>
                      <a:r>
                        <a:rPr sz="1300" b="1" i="0">
                          <a:solidFill>
                            <a:srgbClr val="0F172A"/>
                          </a:solidFill>
                        </a:rPr>
                        <a:t>Qwen, 3 ep.</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r"/>
                      <a:r>
                        <a:rPr sz="1300" b="1" i="0">
                          <a:solidFill>
                            <a:srgbClr val="0F172A"/>
                          </a:solidFill>
                        </a:rPr>
                        <a:t>Δ</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ctr"/>
                      <a:r>
                        <a:rPr sz="1300" b="1" i="0">
                          <a:solidFill>
                            <a:srgbClr val="0F172A"/>
                          </a:solidFill>
                        </a:rPr>
                        <a:t>Seeds up</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r>
              <a:tr h="457200">
                <a:tc>
                  <a:txBody>
                    <a:bodyPr wrap="square"/>
                    <a:lstStyle/>
                    <a:p>
                      <a:pPr algn="l"/>
                      <a:r>
                        <a:rPr sz="1300" b="0" i="0">
                          <a:solidFill>
                            <a:srgbClr val="1E293B"/>
                          </a:solidFill>
                        </a:rPr>
                        <a:t>12 epochs, single, S2 ‡</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300" b="0" i="0">
                          <a:solidFill>
                            <a:srgbClr val="1E293B"/>
                          </a:solidFill>
                        </a:rPr>
                        <a:t>0.543 ± 0.015</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300" b="0" i="0">
                          <a:solidFill>
                            <a:srgbClr val="1E293B"/>
                          </a:solidFill>
                        </a:rPr>
                        <a:t>0.462 ± 0.080</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300" b="0" i="0">
                          <a:solidFill>
                            <a:srgbClr val="1E293B"/>
                          </a:solidFill>
                        </a:rPr>
                        <a:t>+0.082</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ctr"/>
                      <a:r>
                        <a:rPr sz="1300" b="0" i="0">
                          <a:solidFill>
                            <a:srgbClr val="1E293B"/>
                          </a:solidFill>
                        </a:rPr>
                        <a:t>†</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r h="457200">
                <a:tc>
                  <a:txBody>
                    <a:bodyPr wrap="square"/>
                    <a:lstStyle/>
                    <a:p>
                      <a:pPr algn="l"/>
                      <a:r>
                        <a:rPr sz="1300" b="0" i="0">
                          <a:solidFill>
                            <a:srgbClr val="1E293B"/>
                          </a:solidFill>
                        </a:rPr>
                        <a:t>All of train, single, S2</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300" b="0" i="0">
                          <a:solidFill>
                            <a:srgbClr val="1E293B"/>
                          </a:solidFill>
                        </a:rPr>
                        <a:t>0.492 ± 0.045</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300" b="0" i="0">
                          <a:solidFill>
                            <a:srgbClr val="1E293B"/>
                          </a:solidFill>
                        </a:rPr>
                        <a:t>0.476 ± 0.043</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300" b="0" i="0">
                          <a:solidFill>
                            <a:srgbClr val="1E293B"/>
                          </a:solidFill>
                        </a:rPr>
                        <a:t>+0.017</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ctr"/>
                      <a:r>
                        <a:rPr sz="1300" b="0" i="0">
                          <a:solidFill>
                            <a:srgbClr val="1E293B"/>
                          </a:solidFill>
                        </a:rPr>
                        <a:t>6/10</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r>
              <a:tr h="457200">
                <a:tc>
                  <a:txBody>
                    <a:bodyPr wrap="square"/>
                    <a:lstStyle/>
                    <a:p>
                      <a:pPr algn="l"/>
                      <a:r>
                        <a:rPr sz="1300" b="0" i="0">
                          <a:solidFill>
                            <a:srgbClr val="1E293B"/>
                          </a:solidFill>
                        </a:rPr>
                        <a:t>All of train, system, S2</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300" b="0" i="0">
                          <a:solidFill>
                            <a:srgbClr val="1E293B"/>
                          </a:solidFill>
                        </a:rPr>
                        <a:t>0.575</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300" b="0" i="0">
                          <a:solidFill>
                            <a:srgbClr val="1E293B"/>
                          </a:solidFill>
                        </a:rPr>
                        <a:t>0.543</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300" b="0" i="0">
                          <a:solidFill>
                            <a:srgbClr val="1E293B"/>
                          </a:solidFill>
                        </a:rPr>
                        <a:t>+0.028</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ctr"/>
                      <a:r>
                        <a:rPr sz="1300" b="0" i="0">
                          <a:solidFill>
                            <a:srgbClr val="1E293B"/>
                          </a:solidFill>
                        </a:rPr>
                        <a:t>–</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bl>
          </a:graphicData>
        </a:graphic>
      </p:graphicFrame>
      <p:sp>
        <p:nvSpPr>
          <p:cNvPr id="7" name="TextBox 6"/>
          <p:cNvSpPr txBox="1"/>
          <p:nvPr/>
        </p:nvSpPr>
        <p:spPr>
          <a:xfrm>
            <a:off x="5120640" y="4288536"/>
            <a:ext cx="6245352" cy="594360"/>
          </a:xfrm>
          <a:prstGeom prst="rect">
            <a:avLst/>
          </a:prstGeom>
          <a:noFill/>
        </p:spPr>
        <p:txBody>
          <a:bodyPr wrap="square" lIns="0" rIns="0" tIns="0" bIns="0" anchor="t">
            <a:noAutofit/>
          </a:bodyPr>
          <a:lstStyle/>
          <a:p>
            <a:pPr algn="l"/>
            <a:r>
              <a:rPr sz="1400" b="0" i="0">
                <a:solidFill>
                  <a:srgbClr val="1E293B"/>
                </a:solidFill>
              </a:rPr>
              <a:t>All-of-train system difference: 95% CI </a:t>
            </a:r>
            <a:r>
              <a:rPr sz="1400" b="1" i="0">
                <a:solidFill>
                  <a:srgbClr val="1E293B"/>
                </a:solidFill>
              </a:rPr>
              <a:t>[−0.026, +0.092]</a:t>
            </a:r>
            <a:r>
              <a:rPr sz="1400" b="0" i="0">
                <a:solidFill>
                  <a:srgbClr val="1E293B"/>
                </a:solidFill>
              </a:rPr>
              <a:t>.</a:t>
            </a:r>
          </a:p>
          <a:p>
            <a:pPr algn="l"/>
            <a:r>
              <a:rPr sz="1400" b="0" i="0">
                <a:solidFill>
                  <a:srgbClr val="1E293B"/>
                </a:solidFill>
              </a:rPr>
              <a:t>As with the encoder, its 3-seed screen (+0.039) overstated the gain.</a:t>
            </a:r>
          </a:p>
        </p:txBody>
      </p:sp>
      <p:sp>
        <p:nvSpPr>
          <p:cNvPr id="8" name="Caption"/>
          <p:cNvSpPr txBox="1"/>
          <p:nvPr/>
        </p:nvSpPr>
        <p:spPr>
          <a:xfrm>
            <a:off x="5120640" y="5065776"/>
            <a:ext cx="6245352" cy="384048"/>
          </a:xfrm>
          <a:prstGeom prst="rect">
            <a:avLst/>
          </a:prstGeom>
          <a:noFill/>
        </p:spPr>
        <p:txBody>
          <a:bodyPr wrap="square" lIns="0" rIns="0" tIns="0" bIns="0" anchor="t">
            <a:noAutofit/>
          </a:bodyPr>
          <a:lstStyle/>
          <a:p>
            <a:pPr algn="l"/>
            <a:r>
              <a:rPr sz="1100" b="0" i="1">
                <a:solidFill>
                  <a:srgbClr val="64748B"/>
                </a:solidFill>
              </a:rPr>
              <a:t>Report Table 3 (bottom). ‡ seeds 0–2. † reported only: the 12-epoch choice was made on the train slice, not on dev.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The backbone swap outweighs the whole encoder track</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BENCHMARK RESULTS</a:t>
            </a:r>
          </a:p>
        </p:txBody>
      </p:sp>
      <p:sp>
        <p:nvSpPr>
          <p:cNvPr id="4" name="Bullets"/>
          <p:cNvSpPr txBox="1"/>
          <p:nvPr/>
        </p:nvSpPr>
        <p:spPr>
          <a:xfrm>
            <a:off x="548640" y="1417320"/>
            <a:ext cx="4023360" cy="4846320"/>
          </a:xfrm>
          <a:prstGeom prst="rect">
            <a:avLst/>
          </a:prstGeom>
          <a:noFill/>
        </p:spPr>
        <p:txBody>
          <a:bodyPr wrap="square" lIns="0" rIns="0" tIns="0" bIns="0" anchor="ctr">
            <a:noAutofit/>
          </a:bodyPr>
          <a:lstStyle/>
          <a:p>
            <a:pPr marL="246888" indent="-246888">
              <a:lnSpc>
                <a:spcPct val="105000"/>
              </a:lnSpc>
              <a:spcAft>
                <a:spcPts val="1400"/>
              </a:spcAft>
              <a:buClr>
                <a:srgbClr val="2F5D7C"/>
              </a:buClr>
              <a:buFont typeface="Arial"/>
              <a:buChar char="•"/>
            </a:pPr>
            <a:r>
              <a:rPr sz="1800" b="0" i="0">
                <a:solidFill>
                  <a:srgbClr val="1E293B"/>
                </a:solidFill>
              </a:rPr>
              <a:t>Backbone swap alone exceeds the encoder track's gain (+0.092 vs. +0.069).</a:t>
            </a:r>
          </a:p>
          <a:p>
            <a:pPr marL="246888" indent="-246888">
              <a:lnSpc>
                <a:spcPct val="105000"/>
              </a:lnSpc>
              <a:spcAft>
                <a:spcPts val="1400"/>
              </a:spcAft>
              <a:buClr>
                <a:srgbClr val="2F5D7C"/>
              </a:buClr>
              <a:buFont typeface="Arial"/>
              <a:buChar char="•"/>
            </a:pPr>
            <a:r>
              <a:rPr sz="1800" b="0" i="0">
                <a:solidFill>
                  <a:srgbClr val="1E293B"/>
                </a:solidFill>
              </a:rPr>
              <a:t>System S2 </a:t>
            </a:r>
            <a:r>
              <a:rPr sz="1800" b="1" i="0">
                <a:solidFill>
                  <a:srgbClr val="1E293B"/>
                </a:solidFill>
              </a:rPr>
              <a:t>+0.136</a:t>
            </a:r>
            <a:r>
              <a:rPr sz="1800" b="0" i="0">
                <a:solidFill>
                  <a:srgbClr val="1E293B"/>
                </a:solidFill>
              </a:rPr>
              <a:t>, 95% CI [+0.054, +0.224].</a:t>
            </a:r>
          </a:p>
          <a:p>
            <a:pPr marL="246888" indent="-246888">
              <a:lnSpc>
                <a:spcPct val="105000"/>
              </a:lnSpc>
              <a:spcAft>
                <a:spcPts val="1400"/>
              </a:spcAft>
              <a:buClr>
                <a:srgbClr val="2F5D7C"/>
              </a:buClr>
              <a:buFont typeface="Arial"/>
              <a:buChar char="•"/>
            </a:pPr>
            <a:r>
              <a:rPr sz="1800" b="0" i="0">
                <a:solidFill>
                  <a:srgbClr val="1E293B"/>
                </a:solidFill>
              </a:rPr>
              <a:t>Holds on 2-annotator reference sets: 0.524 vs. 0.382.</a:t>
            </a:r>
          </a:p>
          <a:p>
            <a:pPr marL="246888" indent="-246888">
              <a:lnSpc>
                <a:spcPct val="105000"/>
              </a:lnSpc>
              <a:spcAft>
                <a:spcPts val="1400"/>
              </a:spcAft>
              <a:buClr>
                <a:srgbClr val="2F5D7C"/>
              </a:buClr>
              <a:buFont typeface="Arial"/>
              <a:buChar char="•"/>
            </a:pPr>
            <a:r>
              <a:rPr sz="1800" b="0" i="0">
                <a:solidFill>
                  <a:srgbClr val="1E293B"/>
                </a:solidFill>
              </a:rPr>
              <a:t>Logit adjustment adds +0.062 per Qwen model, +0.005 for DeBERTa.</a:t>
            </a:r>
          </a:p>
        </p:txBody>
      </p:sp>
      <p:sp>
        <p:nvSpPr>
          <p:cNvPr id="5" name="Panel"/>
          <p:cNvSpPr/>
          <p:nvPr/>
        </p:nvSpPr>
        <p:spPr>
          <a:xfrm>
            <a:off x="4846320" y="1623060"/>
            <a:ext cx="6793992" cy="4434840"/>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6" name="Table"/>
          <p:cNvGraphicFramePr>
            <a:graphicFrameLocks noGrp="1"/>
          </p:cNvGraphicFramePr>
          <p:nvPr/>
        </p:nvGraphicFramePr>
        <p:xfrm>
          <a:off x="5120640" y="1897380"/>
          <a:ext cx="6245352" cy="3364992"/>
        </p:xfrm>
        <a:graphic>
          <a:graphicData uri="http://schemas.openxmlformats.org/drawingml/2006/table">
            <a:tbl>
              <a:tblPr firstRow="0" bandRow="0">
                <a:tableStyleId>{2D5ABB26-0587-4C30-8999-92F81FD0307C}</a:tableStyleId>
              </a:tblPr>
              <a:tblGrid>
                <a:gridCol w="3776472"/>
                <a:gridCol w="1234440"/>
                <a:gridCol w="1234440"/>
              </a:tblGrid>
              <a:tr h="420624">
                <a:tc>
                  <a:txBody>
                    <a:bodyPr wrap="square"/>
                    <a:lstStyle/>
                    <a:p>
                      <a:pPr algn="l"/>
                      <a:r>
                        <a:rPr sz="1400" b="1" i="0">
                          <a:solidFill>
                            <a:srgbClr val="0F172A"/>
                          </a:solidFill>
                        </a:rPr>
                        <a:t>System (dev)</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r"/>
                      <a:r>
                        <a:rPr sz="1400" b="1" i="0">
                          <a:solidFill>
                            <a:srgbClr val="0F172A"/>
                          </a:solidFill>
                        </a:rPr>
                        <a:t>S2</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r"/>
                      <a:r>
                        <a:rPr sz="1400" b="1" i="0">
                          <a:solidFill>
                            <a:srgbClr val="0F172A"/>
                          </a:solidFill>
                        </a:rPr>
                        <a:t>S1</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r>
              <a:tr h="420624">
                <a:tc>
                  <a:txBody>
                    <a:bodyPr wrap="square"/>
                    <a:lstStyle/>
                    <a:p>
                      <a:pPr algn="l"/>
                      <a:r>
                        <a:rPr sz="1400" b="0" i="0">
                          <a:solidFill>
                            <a:srgbClr val="1E293B"/>
                          </a:solidFill>
                        </a:rPr>
                        <a:t>DeBERTa baseline, single model</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400" b="0" i="0">
                          <a:solidFill>
                            <a:srgbClr val="1E293B"/>
                          </a:solidFill>
                        </a:rPr>
                        <a:t>0.315 ± 0.040</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400" b="0" i="0">
                          <a:solidFill>
                            <a:srgbClr val="1E293B"/>
                          </a:solidFill>
                        </a:rPr>
                        <a:t>0.576 ± 0.030</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r h="420624">
                <a:tc>
                  <a:txBody>
                    <a:bodyPr wrap="square"/>
                    <a:lstStyle/>
                    <a:p>
                      <a:pPr algn="l"/>
                      <a:r>
                        <a:rPr sz="1400" b="0" i="0">
                          <a:solidFill>
                            <a:srgbClr val="1E293B"/>
                          </a:solidFill>
                        </a:rPr>
                        <a:t>DeBERTa, full question + 16 ep., single</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400" b="0" i="0">
                          <a:solidFill>
                            <a:srgbClr val="1E293B"/>
                          </a:solidFill>
                        </a:rPr>
                        <a:t>0.384 ± 0.030</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400" b="0" i="0">
                          <a:solidFill>
                            <a:srgbClr val="1E293B"/>
                          </a:solidFill>
                        </a:rPr>
                        <a:t>0.614 ± 0.027</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r>
              <a:tr h="420624">
                <a:tc>
                  <a:txBody>
                    <a:bodyPr wrap="square"/>
                    <a:lstStyle/>
                    <a:p>
                      <a:pPr algn="l"/>
                      <a:r>
                        <a:rPr sz="1400" b="0" i="0">
                          <a:solidFill>
                            <a:srgbClr val="1E293B"/>
                          </a:solidFill>
                        </a:rPr>
                        <a:t>DeBERTa, 10-seed system</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400" b="0" i="0">
                          <a:solidFill>
                            <a:srgbClr val="1E293B"/>
                          </a:solidFill>
                        </a:rPr>
                        <a:t>0.405</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400" b="0" i="0">
                          <a:solidFill>
                            <a:srgbClr val="1E293B"/>
                          </a:solidFill>
                        </a:rPr>
                        <a:t>0.648</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r h="420624">
                <a:tc>
                  <a:txBody>
                    <a:bodyPr wrap="square"/>
                    <a:lstStyle/>
                    <a:p>
                      <a:pPr algn="l"/>
                      <a:r>
                        <a:rPr sz="1400" b="0" i="0">
                          <a:solidFill>
                            <a:srgbClr val="1E293B"/>
                          </a:solidFill>
                        </a:rPr>
                        <a:t>Qwen3-8B + LoRA, single model</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400" b="0" i="0">
                          <a:solidFill>
                            <a:srgbClr val="1E293B"/>
                          </a:solidFill>
                        </a:rPr>
                        <a:t>0.476 ± 0.043</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400" b="0" i="0">
                          <a:solidFill>
                            <a:srgbClr val="1E293B"/>
                          </a:solidFill>
                        </a:rPr>
                        <a:t>0.709 ± 0.031</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r>
              <a:tr h="420624">
                <a:tc>
                  <a:txBody>
                    <a:bodyPr wrap="square"/>
                    <a:lstStyle/>
                    <a:p>
                      <a:pPr algn="l"/>
                      <a:r>
                        <a:rPr sz="1400" b="1" i="0">
                          <a:solidFill>
                            <a:srgbClr val="1E293B"/>
                          </a:solidFill>
                        </a:rPr>
                        <a:t>Qwen3-8B + LoRA, 10-seed system</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400" b="1" i="0">
                          <a:solidFill>
                            <a:srgbClr val="1E293B"/>
                          </a:solidFill>
                        </a:rPr>
                        <a:t>0.543</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400" b="1" i="0">
                          <a:solidFill>
                            <a:srgbClr val="1E293B"/>
                          </a:solidFill>
                        </a:rPr>
                        <a:t>0.746</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r h="420624">
                <a:tc>
                  <a:txBody>
                    <a:bodyPr wrap="square"/>
                    <a:lstStyle/>
                    <a:p>
                      <a:pPr algn="l"/>
                      <a:r>
                        <a:rPr sz="1400" b="0" i="0">
                          <a:solidFill>
                            <a:srgbClr val="1E293B"/>
                          </a:solidFill>
                        </a:rPr>
                        <a:t>TeleAI, 1st place (multi-call)</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400" b="0" i="0">
                          <a:solidFill>
                            <a:srgbClr val="1E293B"/>
                          </a:solidFill>
                        </a:rPr>
                        <a:t>0.617</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r"/>
                      <a:r>
                        <a:rPr sz="1400" b="0" i="0">
                          <a:solidFill>
                            <a:srgbClr val="1E293B"/>
                          </a:solidFill>
                        </a:rPr>
                        <a:t>0.812</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r>
              <a:tr h="420624">
                <a:tc>
                  <a:txBody>
                    <a:bodyPr wrap="square"/>
                    <a:lstStyle/>
                    <a:p>
                      <a:pPr algn="l"/>
                      <a:r>
                        <a:rPr sz="1400" b="0" i="0">
                          <a:solidFill>
                            <a:srgbClr val="1E293B"/>
                          </a:solidFill>
                        </a:rPr>
                        <a:t>Human annotator vs. other two</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400" b="0" i="0">
                          <a:solidFill>
                            <a:srgbClr val="1E293B"/>
                          </a:solidFill>
                        </a:rPr>
                        <a:t>0.684</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r"/>
                      <a:r>
                        <a:rPr sz="1400" b="0" i="0">
                          <a:solidFill>
                            <a:srgbClr val="1E293B"/>
                          </a:solidFill>
                        </a:rPr>
                        <a:t>–</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bl>
          </a:graphicData>
        </a:graphic>
      </p:graphicFrame>
      <p:sp>
        <p:nvSpPr>
          <p:cNvPr id="7" name="Caption"/>
          <p:cNvSpPr txBox="1"/>
          <p:nvPr/>
        </p:nvSpPr>
        <p:spPr>
          <a:xfrm>
            <a:off x="5120640" y="5399532"/>
            <a:ext cx="6245352" cy="384048"/>
          </a:xfrm>
          <a:prstGeom prst="rect">
            <a:avLst/>
          </a:prstGeom>
          <a:noFill/>
        </p:spPr>
        <p:txBody>
          <a:bodyPr wrap="square" lIns="0" rIns="0" tIns="0" bIns="0" anchor="t">
            <a:noAutofit/>
          </a:bodyPr>
          <a:lstStyle/>
          <a:p>
            <a:pPr algn="l"/>
            <a:r>
              <a:rPr sz="1100" b="0" i="1">
                <a:solidFill>
                  <a:srgbClr val="64748B"/>
                </a:solidFill>
              </a:rPr>
              <a:t>Single model: mean ± s.d. over 10 seeds. System: 10-seed ensemble + logit adjustment, first nested-CV split.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Between published single-pass and multi-call systems</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BENCHMARK RESULTS</a:t>
            </a:r>
          </a:p>
        </p:txBody>
      </p:sp>
      <p:sp>
        <p:nvSpPr>
          <p:cNvPr id="4" name="Panel: qwen_vs_deberta"/>
          <p:cNvSpPr/>
          <p:nvPr/>
        </p:nvSpPr>
        <p:spPr>
          <a:xfrm>
            <a:off x="548640" y="1417319"/>
            <a:ext cx="11091672" cy="4297680"/>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Figure: qwen_vs_deberta" descr="qwen_vs_deberta.png"/>
          <p:cNvPicPr>
            <a:picLocks noChangeAspect="1"/>
          </p:cNvPicPr>
          <p:nvPr/>
        </p:nvPicPr>
        <p:blipFill>
          <a:blip r:embed="rId3"/>
          <a:stretch>
            <a:fillRect/>
          </a:stretch>
        </p:blipFill>
        <p:spPr>
          <a:xfrm>
            <a:off x="985124" y="1581911"/>
            <a:ext cx="10218703" cy="3547872"/>
          </a:xfrm>
          <a:prstGeom prst="rect">
            <a:avLst/>
          </a:prstGeom>
        </p:spPr>
      </p:pic>
      <p:sp>
        <p:nvSpPr>
          <p:cNvPr id="6" name="Caption"/>
          <p:cNvSpPr txBox="1"/>
          <p:nvPr/>
        </p:nvSpPr>
        <p:spPr>
          <a:xfrm>
            <a:off x="822959" y="5184647"/>
            <a:ext cx="10543032" cy="365760"/>
          </a:xfrm>
          <a:prstGeom prst="rect">
            <a:avLst/>
          </a:prstGeom>
          <a:noFill/>
        </p:spPr>
        <p:txBody>
          <a:bodyPr wrap="square" lIns="0" rIns="0" tIns="0" bIns="0" anchor="t">
            <a:noAutofit/>
          </a:bodyPr>
          <a:lstStyle/>
          <a:p>
            <a:pPr algn="l"/>
            <a:r>
              <a:rPr sz="1100" b="0" i="1">
                <a:solidFill>
                  <a:srgbClr val="64748B"/>
                </a:solidFill>
              </a:rPr>
              <a:t>Report Figure 3. (b) bars: mean over 10 nested-CV splits; horizontal lines: published dev results.</a:t>
            </a:r>
          </a:p>
        </p:txBody>
      </p:sp>
      <p:sp>
        <p:nvSpPr>
          <p:cNvPr id="7" name="TextBox 6"/>
          <p:cNvSpPr txBox="1"/>
          <p:nvPr/>
        </p:nvSpPr>
        <p:spPr>
          <a:xfrm>
            <a:off x="548640" y="5852160"/>
            <a:ext cx="11091672" cy="365760"/>
          </a:xfrm>
          <a:prstGeom prst="rect">
            <a:avLst/>
          </a:prstGeom>
          <a:noFill/>
        </p:spPr>
        <p:txBody>
          <a:bodyPr wrap="square" lIns="0" rIns="0" tIns="0" bIns="0" anchor="t">
            <a:noAutofit/>
          </a:bodyPr>
          <a:lstStyle/>
          <a:p>
            <a:pPr algn="l"/>
            <a:r>
              <a:rPr sz="1600" b="0" i="0">
                <a:solidFill>
                  <a:srgbClr val="1E293B"/>
                </a:solidFill>
              </a:rPr>
              <a:t>Above TeleAI's fine-tuned 7B (0.495) and ChulaNLP's hybrid (0.52); </a:t>
            </a:r>
            <a:r>
              <a:rPr sz="1600" b="1" i="0">
                <a:solidFill>
                  <a:srgbClr val="1E293B"/>
                </a:solidFill>
              </a:rPr>
              <a:t>0.074 below the 1.94-call winner, with zero LLM calls.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The model fails, not the labels</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FAILURE ANALYSIS</a:t>
            </a:r>
          </a:p>
        </p:txBody>
      </p:sp>
      <p:sp>
        <p:nvSpPr>
          <p:cNvPr id="4" name="Bullets"/>
          <p:cNvSpPr txBox="1"/>
          <p:nvPr/>
        </p:nvSpPr>
        <p:spPr>
          <a:xfrm>
            <a:off x="548640" y="1417320"/>
            <a:ext cx="4023360" cy="4846320"/>
          </a:xfrm>
          <a:prstGeom prst="rect">
            <a:avLst/>
          </a:prstGeom>
          <a:noFill/>
        </p:spPr>
        <p:txBody>
          <a:bodyPr wrap="square" lIns="0" rIns="0" tIns="0" bIns="0" anchor="ctr">
            <a:noAutofit/>
          </a:bodyPr>
          <a:lstStyle/>
          <a:p>
            <a:pPr marL="246888" indent="-246888">
              <a:lnSpc>
                <a:spcPct val="105000"/>
              </a:lnSpc>
              <a:spcAft>
                <a:spcPts val="1400"/>
              </a:spcAft>
              <a:buClr>
                <a:srgbClr val="2F5D7C"/>
              </a:buClr>
              <a:buFont typeface="Arial"/>
              <a:buChar char="•"/>
            </a:pPr>
            <a:r>
              <a:rPr sz="1800" b="0" i="0">
                <a:solidFill>
                  <a:srgbClr val="1E293B"/>
                </a:solidFill>
              </a:rPr>
              <a:t>137 of 308 predictions miss the reference set; 53 on unanimous items.</a:t>
            </a:r>
          </a:p>
          <a:p>
            <a:pPr marL="246888" indent="-246888">
              <a:lnSpc>
                <a:spcPct val="105000"/>
              </a:lnSpc>
              <a:spcAft>
                <a:spcPts val="1400"/>
              </a:spcAft>
              <a:buClr>
                <a:srgbClr val="2F5D7C"/>
              </a:buClr>
              <a:buFont typeface="Arial"/>
              <a:buChar char="•"/>
            </a:pPr>
            <a:r>
              <a:rPr sz="1800" b="0" i="0">
                <a:solidFill>
                  <a:srgbClr val="1E293B"/>
                </a:solidFill>
              </a:rPr>
              <a:t>Annotator vs. other two: 0.684; ensemble: 0.380.</a:t>
            </a:r>
          </a:p>
          <a:p>
            <a:pPr marL="246888" indent="-246888">
              <a:lnSpc>
                <a:spcPct val="105000"/>
              </a:lnSpc>
              <a:spcAft>
                <a:spcPts val="1400"/>
              </a:spcAft>
              <a:buClr>
                <a:srgbClr val="2F5D7C"/>
              </a:buClr>
              <a:buFont typeface="Arial"/>
              <a:buChar char="•"/>
            </a:pPr>
            <a:r>
              <a:rPr sz="1800" b="0" i="0">
                <a:solidFill>
                  <a:srgbClr val="1E293B"/>
                </a:solidFill>
              </a:rPr>
              <a:t>Top error pairs: Implicit→Explicit 25, General→Implicit 20, General→Explicit 20.</a:t>
            </a:r>
          </a:p>
          <a:p>
            <a:pPr marL="246888" indent="-246888">
              <a:lnSpc>
                <a:spcPct val="105000"/>
              </a:lnSpc>
              <a:spcAft>
                <a:spcPts val="1400"/>
              </a:spcAft>
              <a:buClr>
                <a:srgbClr val="2F5D7C"/>
              </a:buClr>
              <a:buFont typeface="Arial"/>
              <a:buChar char="•"/>
            </a:pPr>
            <a:r>
              <a:rPr sz="1800" b="0" i="0">
                <a:solidFill>
                  <a:srgbClr val="1E293B"/>
                </a:solidFill>
              </a:rPr>
              <a:t>Length hurts: the 20 inputs still truncated land in-set 20% vs. 58%.</a:t>
            </a:r>
          </a:p>
        </p:txBody>
      </p:sp>
      <p:sp>
        <p:nvSpPr>
          <p:cNvPr id="5" name="Panel: confusion"/>
          <p:cNvSpPr/>
          <p:nvPr/>
        </p:nvSpPr>
        <p:spPr>
          <a:xfrm>
            <a:off x="4846320" y="1417320"/>
            <a:ext cx="6793992" cy="4846320"/>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Figure: confusion" descr="confusion.png"/>
          <p:cNvPicPr>
            <a:picLocks noChangeAspect="1"/>
          </p:cNvPicPr>
          <p:nvPr/>
        </p:nvPicPr>
        <p:blipFill>
          <a:blip r:embed="rId3"/>
          <a:stretch>
            <a:fillRect/>
          </a:stretch>
        </p:blipFill>
        <p:spPr>
          <a:xfrm>
            <a:off x="5793900" y="1581912"/>
            <a:ext cx="4898831" cy="4096511"/>
          </a:xfrm>
          <a:prstGeom prst="rect">
            <a:avLst/>
          </a:prstGeom>
        </p:spPr>
      </p:pic>
      <p:sp>
        <p:nvSpPr>
          <p:cNvPr id="7" name="Caption"/>
          <p:cNvSpPr txBox="1"/>
          <p:nvPr/>
        </p:nvSpPr>
        <p:spPr>
          <a:xfrm>
            <a:off x="5120640" y="5733288"/>
            <a:ext cx="6245352" cy="365760"/>
          </a:xfrm>
          <a:prstGeom prst="rect">
            <a:avLst/>
          </a:prstGeom>
          <a:noFill/>
        </p:spPr>
        <p:txBody>
          <a:bodyPr wrap="square" lIns="0" rIns="0" tIns="0" bIns="0" anchor="t">
            <a:noAutofit/>
          </a:bodyPr>
          <a:lstStyle/>
          <a:p>
            <a:pPr algn="l"/>
            <a:r>
              <a:rPr sz="1100" b="0" i="1">
                <a:solidFill>
                  <a:srgbClr val="64748B"/>
                </a:solidFill>
              </a:rPr>
              <a:t>Final DeBERTa 10-seed ensemble, argmax, rows = majority gold. Bold: correct.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One answer that needs world knowledge</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FAILURE EXAMPLE AND LIMITATIONS</a:t>
            </a:r>
          </a:p>
        </p:txBody>
      </p:sp>
      <p:sp>
        <p:nvSpPr>
          <p:cNvPr id="4" name="Bullets"/>
          <p:cNvSpPr txBox="1"/>
          <p:nvPr/>
        </p:nvSpPr>
        <p:spPr>
          <a:xfrm>
            <a:off x="548640" y="1417320"/>
            <a:ext cx="4023360" cy="4846320"/>
          </a:xfrm>
          <a:prstGeom prst="rect">
            <a:avLst/>
          </a:prstGeom>
          <a:noFill/>
        </p:spPr>
        <p:txBody>
          <a:bodyPr wrap="square" lIns="0" rIns="0" tIns="0" bIns="0" anchor="ctr">
            <a:noAutofit/>
          </a:bodyPr>
          <a:lstStyle/>
          <a:p>
            <a:pPr marL="246888" indent="-246888">
              <a:lnSpc>
                <a:spcPct val="105000"/>
              </a:lnSpc>
              <a:spcAft>
                <a:spcPts val="1400"/>
              </a:spcAft>
              <a:buClr>
                <a:srgbClr val="2F5D7C"/>
              </a:buClr>
              <a:buFont typeface="Arial"/>
              <a:buChar char="•"/>
            </a:pPr>
            <a:r>
              <a:rPr sz="1700" b="0" i="0">
                <a:solidFill>
                  <a:srgbClr val="1E293B"/>
                </a:solidFill>
              </a:rPr>
              <a:t>Dev-only evaluation: 308 items, so system differences carry wide intervals.</a:t>
            </a:r>
          </a:p>
          <a:p>
            <a:pPr marL="246888" indent="-246888">
              <a:lnSpc>
                <a:spcPct val="105000"/>
              </a:lnSpc>
              <a:spcAft>
                <a:spcPts val="1400"/>
              </a:spcAft>
              <a:buClr>
                <a:srgbClr val="2F5D7C"/>
              </a:buClr>
              <a:buFont typeface="Arial"/>
              <a:buChar char="•"/>
            </a:pPr>
            <a:r>
              <a:rPr sz="1700" b="0" i="0">
                <a:solidFill>
                  <a:srgbClr val="1E293B"/>
                </a:solidFill>
              </a:rPr>
              <a:t>Labels moderately reliable: Fleiss κ 0.48 on nine types; human ceiling 0.684.</a:t>
            </a:r>
          </a:p>
          <a:p>
            <a:pPr marL="246888" indent="-246888">
              <a:lnSpc>
                <a:spcPct val="105000"/>
              </a:lnSpc>
              <a:spcAft>
                <a:spcPts val="1400"/>
              </a:spcAft>
              <a:buClr>
                <a:srgbClr val="2F5D7C"/>
              </a:buClr>
              <a:buFont typeface="Arial"/>
              <a:buChar char="•"/>
            </a:pPr>
            <a:r>
              <a:rPr sz="1700" b="0" i="0">
                <a:solidFill>
                  <a:srgbClr val="1E293B"/>
                </a:solidFill>
              </a:rPr>
              <a:t>12-epoch schedule screened on three seeds only: adopted, not established.</a:t>
            </a:r>
          </a:p>
          <a:p>
            <a:pPr marL="246888" indent="-246888">
              <a:lnSpc>
                <a:spcPct val="105000"/>
              </a:lnSpc>
              <a:spcAft>
                <a:spcPts val="1400"/>
              </a:spcAft>
              <a:buClr>
                <a:srgbClr val="2F5D7C"/>
              </a:buClr>
              <a:buFont typeface="Arial"/>
              <a:buChar char="•"/>
            </a:pPr>
            <a:r>
              <a:rPr sz="1700" b="0" i="0">
                <a:solidFill>
                  <a:srgbClr val="1E293B"/>
                </a:solidFill>
              </a:rPr>
              <a:t>Partial/half-answer never predicted; 8B pretraining may include these transcripts.</a:t>
            </a:r>
          </a:p>
        </p:txBody>
      </p:sp>
      <p:sp>
        <p:nvSpPr>
          <p:cNvPr id="5" name="Panel"/>
          <p:cNvSpPr/>
          <p:nvPr/>
        </p:nvSpPr>
        <p:spPr>
          <a:xfrm>
            <a:off x="4846320" y="1581912"/>
            <a:ext cx="6793992" cy="4517136"/>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6" name="Table"/>
          <p:cNvGraphicFramePr>
            <a:graphicFrameLocks noGrp="1"/>
          </p:cNvGraphicFramePr>
          <p:nvPr/>
        </p:nvGraphicFramePr>
        <p:xfrm>
          <a:off x="5120640" y="1856232"/>
          <a:ext cx="6245352" cy="1389888"/>
        </p:xfrm>
        <a:graphic>
          <a:graphicData uri="http://schemas.openxmlformats.org/drawingml/2006/table">
            <a:tbl>
              <a:tblPr firstRow="0" bandRow="0">
                <a:tableStyleId>{2D5ABB26-0587-4C30-8999-92F81FD0307C}</a:tableStyleId>
              </a:tblPr>
              <a:tblGrid>
                <a:gridCol w="1371600"/>
                <a:gridCol w="4873752"/>
              </a:tblGrid>
              <a:tr h="347472">
                <a:tc>
                  <a:txBody>
                    <a:bodyPr wrap="square"/>
                    <a:lstStyle/>
                    <a:p>
                      <a:pPr algn="l"/>
                      <a:r>
                        <a:rPr sz="1300" b="1" i="0">
                          <a:solidFill>
                            <a:srgbClr val="0F172A"/>
                          </a:solidFill>
                        </a:rPr>
                        <a:t>Dev item 17</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l"/>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r>
              <a:tr h="347472">
                <a:tc>
                  <a:txBody>
                    <a:bodyPr wrap="square"/>
                    <a:lstStyle/>
                    <a:p>
                      <a:pPr algn="l"/>
                      <a:r>
                        <a:rPr sz="1300" b="0" i="0">
                          <a:solidFill>
                            <a:srgbClr val="1E293B"/>
                          </a:solidFill>
                        </a:rPr>
                        <a:t>Sub-question</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l"/>
                      <a:r>
                        <a:rPr sz="1300" b="0" i="0">
                          <a:solidFill>
                            <a:srgbClr val="1E293B"/>
                          </a:solidFill>
                        </a:rPr>
                        <a:t>Would you campaign against Senator Joe Lieberman on Iraq?</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r h="347472">
                <a:tc>
                  <a:txBody>
                    <a:bodyPr wrap="square"/>
                    <a:lstStyle/>
                    <a:p>
                      <a:pPr algn="l"/>
                      <a:r>
                        <a:rPr sz="1300" b="0" i="0">
                          <a:solidFill>
                            <a:srgbClr val="1E293B"/>
                          </a:solidFill>
                        </a:rPr>
                        <a:t>Answer</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l"/>
                      <a:r>
                        <a:rPr sz="1300" b="0" i="0">
                          <a:solidFill>
                            <a:srgbClr val="1E293B"/>
                          </a:solidFill>
                        </a:rPr>
                        <a:t>“I’m going to stay out of Connecticut.”</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r>
              <a:tr h="347472">
                <a:tc>
                  <a:txBody>
                    <a:bodyPr wrap="square"/>
                    <a:lstStyle/>
                    <a:p>
                      <a:pPr algn="l"/>
                      <a:r>
                        <a:rPr sz="1300" b="0" i="0">
                          <a:solidFill>
                            <a:srgbClr val="1E293B"/>
                          </a:solidFill>
                        </a:rPr>
                        <a:t>Annotators</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l"/>
                      <a:r>
                        <a:rPr sz="1300" b="0" i="0">
                          <a:solidFill>
                            <a:srgbClr val="1E293B"/>
                          </a:solidFill>
                        </a:rPr>
                        <a:t>Dodging, Dodging, Implicit  (S1: Ambivalent)</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bl>
          </a:graphicData>
        </a:graphic>
      </p:graphicFrame>
      <p:graphicFrame>
        <p:nvGraphicFramePr>
          <p:cNvPr id="7" name="Table"/>
          <p:cNvGraphicFramePr>
            <a:graphicFrameLocks noGrp="1"/>
          </p:cNvGraphicFramePr>
          <p:nvPr/>
        </p:nvGraphicFramePr>
        <p:xfrm>
          <a:off x="5120640" y="3429000"/>
          <a:ext cx="6245352" cy="1737360"/>
        </p:xfrm>
        <a:graphic>
          <a:graphicData uri="http://schemas.openxmlformats.org/drawingml/2006/table">
            <a:tbl>
              <a:tblPr firstRow="0" bandRow="0">
                <a:tableStyleId>{2D5ABB26-0587-4C30-8999-92F81FD0307C}</a:tableStyleId>
              </a:tblPr>
              <a:tblGrid>
                <a:gridCol w="1600200"/>
                <a:gridCol w="2322576"/>
                <a:gridCol w="2322576"/>
              </a:tblGrid>
              <a:tr h="347472">
                <a:tc>
                  <a:txBody>
                    <a:bodyPr wrap="square"/>
                    <a:lstStyle/>
                    <a:p>
                      <a:pPr algn="l"/>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l"/>
                      <a:r>
                        <a:rPr sz="1200" b="1" i="0">
                          <a:solidFill>
                            <a:srgbClr val="0F172A"/>
                          </a:solidFill>
                        </a:rPr>
                        <a:t>DeBERTa system</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c>
                  <a:txBody>
                    <a:bodyPr wrap="square"/>
                    <a:lstStyle/>
                    <a:p>
                      <a:pPr algn="l"/>
                      <a:r>
                        <a:rPr sz="1200" b="1" i="0">
                          <a:solidFill>
                            <a:srgbClr val="0F172A"/>
                          </a:solidFill>
                        </a:rPr>
                        <a:t>Qwen system</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E2E8F0"/>
                    </a:solidFill>
                  </a:tcPr>
                </a:tc>
              </a:tr>
              <a:tr h="347472">
                <a:tc>
                  <a:txBody>
                    <a:bodyPr wrap="square"/>
                    <a:lstStyle/>
                    <a:p>
                      <a:pPr algn="l"/>
                      <a:r>
                        <a:rPr sz="1200" b="0" i="0">
                          <a:solidFill>
                            <a:srgbClr val="1E293B"/>
                          </a:solidFill>
                        </a:rPr>
                        <a:t>Mean p, top 3</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l"/>
                      <a:r>
                        <a:rPr sz="1200" b="0" i="0">
                          <a:solidFill>
                            <a:srgbClr val="1E293B"/>
                          </a:solidFill>
                        </a:rPr>
                        <a:t>General .373, Implicit .282, Deflection .205</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l"/>
                      <a:r>
                        <a:rPr sz="1200" b="0" i="0">
                          <a:solidFill>
                            <a:srgbClr val="1E293B"/>
                          </a:solidFill>
                        </a:rPr>
                        <a:t>Dodging .327, Implicit .189, Declining .170</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r h="347472">
                <a:tc>
                  <a:txBody>
                    <a:bodyPr wrap="square"/>
                    <a:lstStyle/>
                    <a:p>
                      <a:pPr algn="l"/>
                      <a:r>
                        <a:rPr sz="1200" b="0" i="0">
                          <a:solidFill>
                            <a:srgbClr val="1E293B"/>
                          </a:solidFill>
                        </a:rPr>
                        <a:t>Ensemble argmax</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l"/>
                      <a:r>
                        <a:rPr sz="1200" b="0" i="0">
                          <a:solidFill>
                            <a:srgbClr val="1E293B"/>
                          </a:solidFill>
                        </a:rPr>
                        <a:t>General (miss)</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l"/>
                      <a:r>
                        <a:rPr sz="1200" b="1" i="0">
                          <a:solidFill>
                            <a:srgbClr val="1E293B"/>
                          </a:solidFill>
                        </a:rPr>
                        <a:t>Dodging (in-set)</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r>
              <a:tr h="347472">
                <a:tc>
                  <a:txBody>
                    <a:bodyPr wrap="square"/>
                    <a:lstStyle/>
                    <a:p>
                      <a:pPr algn="l"/>
                      <a:r>
                        <a:rPr sz="1200" b="0" i="0">
                          <a:solidFill>
                            <a:srgbClr val="1E293B"/>
                          </a:solidFill>
                        </a:rPr>
                        <a:t>After logit adj.</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l"/>
                      <a:r>
                        <a:rPr sz="1200" b="0" i="0">
                          <a:solidFill>
                            <a:srgbClr val="1E293B"/>
                          </a:solidFill>
                        </a:rPr>
                        <a:t>General (miss)</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c>
                  <a:txBody>
                    <a:bodyPr wrap="square"/>
                    <a:lstStyle/>
                    <a:p>
                      <a:pPr algn="l"/>
                      <a:r>
                        <a:rPr sz="1200" b="0" i="0">
                          <a:solidFill>
                            <a:srgbClr val="1E293B"/>
                          </a:solidFill>
                        </a:rPr>
                        <a:t>Declining (miss)</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FFFFF"/>
                    </a:solidFill>
                  </a:tcPr>
                </a:tc>
              </a:tr>
              <a:tr h="347472">
                <a:tc>
                  <a:txBody>
                    <a:bodyPr wrap="square"/>
                    <a:lstStyle/>
                    <a:p>
                      <a:pPr algn="l"/>
                      <a:r>
                        <a:rPr sz="1200" b="0" i="0">
                          <a:solidFill>
                            <a:srgbClr val="1E293B"/>
                          </a:solidFill>
                        </a:rPr>
                        <a:t>Subtask 1</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l"/>
                      <a:r>
                        <a:rPr sz="1200" b="1" i="0">
                          <a:solidFill>
                            <a:srgbClr val="1E293B"/>
                          </a:solidFill>
                        </a:rPr>
                        <a:t>Ambivalent (correct)</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c>
                  <a:txBody>
                    <a:bodyPr wrap="square"/>
                    <a:lstStyle/>
                    <a:p>
                      <a:pPr algn="l"/>
                      <a:r>
                        <a:rPr sz="1200" b="0" i="0">
                          <a:solidFill>
                            <a:srgbClr val="1E293B"/>
                          </a:solidFill>
                        </a:rPr>
                        <a:t>Clear Non-Reply (miss)</a:t>
                      </a:r>
                    </a:p>
                  </a:txBody>
                  <a:tcPr marL="73152" marR="73152" marT="32004" marB="32004" anchor="ctr">
                    <a:lnL w="9525" cap="flat" cmpd="sng" algn="ctr">
                      <a:solidFill>
                        <a:srgbClr val="CBD5E1"/>
                      </a:solidFill>
                      <a:prstDash val="solid"/>
                    </a:lnL>
                    <a:lnR w="9525" cap="flat" cmpd="sng" algn="ctr">
                      <a:solidFill>
                        <a:srgbClr val="CBD5E1"/>
                      </a:solidFill>
                      <a:prstDash val="solid"/>
                    </a:lnR>
                    <a:lnT w="9525" cap="flat" cmpd="sng" algn="ctr">
                      <a:solidFill>
                        <a:srgbClr val="CBD5E1"/>
                      </a:solidFill>
                      <a:prstDash val="solid"/>
                    </a:lnT>
                    <a:lnB w="9525" cap="flat" cmpd="sng" algn="ctr">
                      <a:solidFill>
                        <a:srgbClr val="CBD5E1"/>
                      </a:solidFill>
                      <a:prstDash val="solid"/>
                    </a:lnB>
                    <a:solidFill>
                      <a:srgbClr val="F8FAFC"/>
                    </a:solidFill>
                  </a:tcPr>
                </a:tc>
              </a:tr>
            </a:tbl>
          </a:graphicData>
        </a:graphic>
      </p:graphicFrame>
      <p:sp>
        <p:nvSpPr>
          <p:cNvPr id="8" name="Caption"/>
          <p:cNvSpPr txBox="1"/>
          <p:nvPr/>
        </p:nvSpPr>
        <p:spPr>
          <a:xfrm>
            <a:off x="5120640" y="5458968"/>
            <a:ext cx="6245352" cy="365760"/>
          </a:xfrm>
          <a:prstGeom prst="rect">
            <a:avLst/>
          </a:prstGeom>
          <a:noFill/>
        </p:spPr>
        <p:txBody>
          <a:bodyPr wrap="square" lIns="0" rIns="0" tIns="0" bIns="0" anchor="t">
            <a:noAutofit/>
          </a:bodyPr>
          <a:lstStyle/>
          <a:p>
            <a:pPr algn="l"/>
            <a:r>
              <a:rPr sz="1100" b="0" i="1">
                <a:solidFill>
                  <a:srgbClr val="64748B"/>
                </a:solidFill>
              </a:rPr>
              <a:t>Report Figure 4. The prior correction (0.205 vs. 0.042) moves Qwen's correct top-1 to a rarer class.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What the mid-evaluation establishes</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SUMMARY AND CONTRIBUTIONS</a:t>
            </a:r>
          </a:p>
        </p:txBody>
      </p:sp>
      <p:sp>
        <p:nvSpPr>
          <p:cNvPr id="4" name="Bullets"/>
          <p:cNvSpPr txBox="1"/>
          <p:nvPr/>
        </p:nvSpPr>
        <p:spPr>
          <a:xfrm>
            <a:off x="548640" y="1417320"/>
            <a:ext cx="4023360" cy="4846320"/>
          </a:xfrm>
          <a:prstGeom prst="rect">
            <a:avLst/>
          </a:prstGeom>
          <a:noFill/>
        </p:spPr>
        <p:txBody>
          <a:bodyPr wrap="square" lIns="0" rIns="0" tIns="0" bIns="0" anchor="ctr">
            <a:noAutofit/>
          </a:bodyPr>
          <a:lstStyle/>
          <a:p>
            <a:pPr marL="246888" indent="-246888">
              <a:lnSpc>
                <a:spcPct val="105000"/>
              </a:lnSpc>
              <a:spcAft>
                <a:spcPts val="1400"/>
              </a:spcAft>
              <a:buClr>
                <a:srgbClr val="2F5D7C"/>
              </a:buClr>
              <a:buFont typeface="Arial"/>
              <a:buChar char="•"/>
            </a:pPr>
            <a:r>
              <a:rPr sz="1800" b="0" i="0">
                <a:solidFill>
                  <a:srgbClr val="1E293B"/>
                </a:solidFill>
              </a:rPr>
              <a:t>Encoder limits isolated: only longer training and the full question helped.</a:t>
            </a:r>
          </a:p>
          <a:p>
            <a:pPr marL="246888" indent="-246888">
              <a:lnSpc>
                <a:spcPct val="105000"/>
              </a:lnSpc>
              <a:spcAft>
                <a:spcPts val="1400"/>
              </a:spcAft>
              <a:buClr>
                <a:srgbClr val="2F5D7C"/>
              </a:buClr>
              <a:buFont typeface="Arial"/>
              <a:buChar char="•"/>
            </a:pPr>
            <a:r>
              <a:rPr sz="1800" b="0" i="0">
                <a:solidFill>
                  <a:srgbClr val="1E293B"/>
                </a:solidFill>
              </a:rPr>
              <a:t>Seven documented negatives (hierarchies, losses, re-ranker, soups), each with a mechanism.</a:t>
            </a:r>
          </a:p>
          <a:p>
            <a:pPr marL="246888" indent="-246888">
              <a:lnSpc>
                <a:spcPct val="105000"/>
              </a:lnSpc>
              <a:spcAft>
                <a:spcPts val="1400"/>
              </a:spcAft>
              <a:buClr>
                <a:srgbClr val="2F5D7C"/>
              </a:buClr>
              <a:buFont typeface="Arial"/>
              <a:buChar char="•"/>
            </a:pPr>
            <a:r>
              <a:rPr sz="1800" b="0" i="0">
                <a:solidFill>
                  <a:srgbClr val="1E293B"/>
                </a:solidFill>
              </a:rPr>
              <a:t>Knowledge hypothesis supported: the 8B backbone wins on all ten paired seeds.</a:t>
            </a:r>
          </a:p>
          <a:p>
            <a:pPr marL="246888" indent="-246888">
              <a:lnSpc>
                <a:spcPct val="105000"/>
              </a:lnSpc>
              <a:spcAft>
                <a:spcPts val="1400"/>
              </a:spcAft>
              <a:buClr>
                <a:srgbClr val="2F5D7C"/>
              </a:buClr>
              <a:buFont typeface="Arial"/>
              <a:buChar char="•"/>
            </a:pPr>
            <a:r>
              <a:rPr sz="1800" b="0" i="0">
                <a:solidFill>
                  <a:srgbClr val="1E293B"/>
                </a:solidFill>
              </a:rPr>
              <a:t>Our registered “where” prediction was falsified: the gain is broad.</a:t>
            </a:r>
          </a:p>
        </p:txBody>
      </p:sp>
      <p:sp>
        <p:nvSpPr>
          <p:cNvPr id="5" name="Stat: DeBERTa-v3-large, 10-seed system"/>
          <p:cNvSpPr/>
          <p:nvPr/>
        </p:nvSpPr>
        <p:spPr>
          <a:xfrm>
            <a:off x="4846320" y="2057400"/>
            <a:ext cx="3259836" cy="1645920"/>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29200" y="2203704"/>
            <a:ext cx="2894076" cy="274320"/>
          </a:xfrm>
          <a:prstGeom prst="rect">
            <a:avLst/>
          </a:prstGeom>
          <a:noFill/>
        </p:spPr>
        <p:txBody>
          <a:bodyPr wrap="square" lIns="0" rIns="0" tIns="0" bIns="0" anchor="t">
            <a:noAutofit/>
          </a:bodyPr>
          <a:lstStyle/>
          <a:p>
            <a:pPr algn="l"/>
            <a:r>
              <a:rPr sz="1200" b="0" i="0">
                <a:solidFill>
                  <a:srgbClr val="64748B"/>
                </a:solidFill>
              </a:rPr>
              <a:t>DeBERTa-v3-large, 10-seed system</a:t>
            </a:r>
          </a:p>
        </p:txBody>
      </p:sp>
      <p:sp>
        <p:nvSpPr>
          <p:cNvPr id="7" name="TextBox 6"/>
          <p:cNvSpPr txBox="1"/>
          <p:nvPr/>
        </p:nvSpPr>
        <p:spPr>
          <a:xfrm>
            <a:off x="5029200" y="2478024"/>
            <a:ext cx="2894076" cy="566928"/>
          </a:xfrm>
          <a:prstGeom prst="rect">
            <a:avLst/>
          </a:prstGeom>
          <a:noFill/>
        </p:spPr>
        <p:txBody>
          <a:bodyPr wrap="square" lIns="0" rIns="0" tIns="0" bIns="0" anchor="t">
            <a:noAutofit/>
          </a:bodyPr>
          <a:lstStyle/>
          <a:p>
            <a:pPr algn="l"/>
            <a:r>
              <a:rPr sz="3400" b="1" i="0">
                <a:solidFill>
                  <a:srgbClr val="0F172A"/>
                </a:solidFill>
                <a:latin typeface="+mj-lt"/>
              </a:rPr>
              <a:t>0.405</a:t>
            </a:r>
          </a:p>
        </p:txBody>
      </p:sp>
      <p:sp>
        <p:nvSpPr>
          <p:cNvPr id="8" name="TextBox 7"/>
          <p:cNvSpPr txBox="1"/>
          <p:nvPr/>
        </p:nvSpPr>
        <p:spPr>
          <a:xfrm>
            <a:off x="5029200" y="3282696"/>
            <a:ext cx="2894076" cy="274320"/>
          </a:xfrm>
          <a:prstGeom prst="rect">
            <a:avLst/>
          </a:prstGeom>
          <a:noFill/>
        </p:spPr>
        <p:txBody>
          <a:bodyPr wrap="square" lIns="0" rIns="0" tIns="0" bIns="0" anchor="t">
            <a:noAutofit/>
          </a:bodyPr>
          <a:lstStyle/>
          <a:p>
            <a:pPr algn="l"/>
            <a:r>
              <a:rPr sz="1200" b="0" i="0">
                <a:solidFill>
                  <a:srgbClr val="1E293B"/>
                </a:solidFill>
              </a:rPr>
              <a:t>dev S2  ·  S1 0.648</a:t>
            </a:r>
          </a:p>
        </p:txBody>
      </p:sp>
      <p:sp>
        <p:nvSpPr>
          <p:cNvPr id="9" name="Stat: Qwen3-8B + LoRA, 10-seed system"/>
          <p:cNvSpPr/>
          <p:nvPr/>
        </p:nvSpPr>
        <p:spPr>
          <a:xfrm>
            <a:off x="8380476" y="2057400"/>
            <a:ext cx="3259836" cy="1645920"/>
          </a:xfrm>
          <a:prstGeom prst="roundRect">
            <a:avLst>
              <a:gd name="adj" fmla="val 2500"/>
            </a:avLst>
          </a:prstGeom>
          <a:solidFill>
            <a:srgbClr val="E8EEF4"/>
          </a:solidFill>
          <a:ln w="9525">
            <a:solidFill>
              <a:srgbClr val="2F5D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563356" y="2203704"/>
            <a:ext cx="2894076" cy="274320"/>
          </a:xfrm>
          <a:prstGeom prst="rect">
            <a:avLst/>
          </a:prstGeom>
          <a:noFill/>
        </p:spPr>
        <p:txBody>
          <a:bodyPr wrap="square" lIns="0" rIns="0" tIns="0" bIns="0" anchor="t">
            <a:noAutofit/>
          </a:bodyPr>
          <a:lstStyle/>
          <a:p>
            <a:pPr algn="l"/>
            <a:r>
              <a:rPr sz="1200" b="0" i="0">
                <a:solidFill>
                  <a:srgbClr val="64748B"/>
                </a:solidFill>
              </a:rPr>
              <a:t>Qwen3-8B + LoRA, 10-seed system</a:t>
            </a:r>
          </a:p>
        </p:txBody>
      </p:sp>
      <p:sp>
        <p:nvSpPr>
          <p:cNvPr id="11" name="TextBox 10"/>
          <p:cNvSpPr txBox="1"/>
          <p:nvPr/>
        </p:nvSpPr>
        <p:spPr>
          <a:xfrm>
            <a:off x="8563356" y="2478024"/>
            <a:ext cx="2894076" cy="566928"/>
          </a:xfrm>
          <a:prstGeom prst="rect">
            <a:avLst/>
          </a:prstGeom>
          <a:noFill/>
        </p:spPr>
        <p:txBody>
          <a:bodyPr wrap="square" lIns="0" rIns="0" tIns="0" bIns="0" anchor="t">
            <a:noAutofit/>
          </a:bodyPr>
          <a:lstStyle/>
          <a:p>
            <a:pPr algn="l"/>
            <a:r>
              <a:rPr sz="3400" b="1" i="0">
                <a:solidFill>
                  <a:srgbClr val="0F172A"/>
                </a:solidFill>
                <a:latin typeface="+mj-lt"/>
              </a:rPr>
              <a:t>0.543</a:t>
            </a:r>
          </a:p>
        </p:txBody>
      </p:sp>
      <p:sp>
        <p:nvSpPr>
          <p:cNvPr id="12" name="TextBox 11"/>
          <p:cNvSpPr txBox="1"/>
          <p:nvPr/>
        </p:nvSpPr>
        <p:spPr>
          <a:xfrm>
            <a:off x="8563356" y="3282696"/>
            <a:ext cx="2894076" cy="274320"/>
          </a:xfrm>
          <a:prstGeom prst="rect">
            <a:avLst/>
          </a:prstGeom>
          <a:noFill/>
        </p:spPr>
        <p:txBody>
          <a:bodyPr wrap="square" lIns="0" rIns="0" tIns="0" bIns="0" anchor="t">
            <a:noAutofit/>
          </a:bodyPr>
          <a:lstStyle/>
          <a:p>
            <a:pPr algn="l"/>
            <a:r>
              <a:rPr sz="1200" b="0" i="0">
                <a:solidFill>
                  <a:srgbClr val="1E293B"/>
                </a:solidFill>
              </a:rPr>
              <a:t>dev S2  ·  S1 0.746</a:t>
            </a:r>
          </a:p>
        </p:txBody>
      </p:sp>
      <p:sp>
        <p:nvSpPr>
          <p:cNvPr id="13" name="Stat: System gain, Subtask 2"/>
          <p:cNvSpPr/>
          <p:nvPr/>
        </p:nvSpPr>
        <p:spPr>
          <a:xfrm>
            <a:off x="4846320" y="3977639"/>
            <a:ext cx="3259836" cy="1645920"/>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029200" y="4123944"/>
            <a:ext cx="2894076" cy="274320"/>
          </a:xfrm>
          <a:prstGeom prst="rect">
            <a:avLst/>
          </a:prstGeom>
          <a:noFill/>
        </p:spPr>
        <p:txBody>
          <a:bodyPr wrap="square" lIns="0" rIns="0" tIns="0" bIns="0" anchor="t">
            <a:noAutofit/>
          </a:bodyPr>
          <a:lstStyle/>
          <a:p>
            <a:pPr algn="l"/>
            <a:r>
              <a:rPr sz="1200" b="0" i="0">
                <a:solidFill>
                  <a:srgbClr val="64748B"/>
                </a:solidFill>
              </a:rPr>
              <a:t>System gain, Subtask 2</a:t>
            </a:r>
          </a:p>
        </p:txBody>
      </p:sp>
      <p:sp>
        <p:nvSpPr>
          <p:cNvPr id="15" name="TextBox 14"/>
          <p:cNvSpPr txBox="1"/>
          <p:nvPr/>
        </p:nvSpPr>
        <p:spPr>
          <a:xfrm>
            <a:off x="5029200" y="4398264"/>
            <a:ext cx="2894076" cy="566928"/>
          </a:xfrm>
          <a:prstGeom prst="rect">
            <a:avLst/>
          </a:prstGeom>
          <a:noFill/>
        </p:spPr>
        <p:txBody>
          <a:bodyPr wrap="square" lIns="0" rIns="0" tIns="0" bIns="0" anchor="t">
            <a:noAutofit/>
          </a:bodyPr>
          <a:lstStyle/>
          <a:p>
            <a:pPr algn="l"/>
            <a:r>
              <a:rPr sz="3400" b="1" i="0">
                <a:solidFill>
                  <a:srgbClr val="0F172A"/>
                </a:solidFill>
                <a:latin typeface="+mj-lt"/>
              </a:rPr>
              <a:t>+0.136</a:t>
            </a:r>
          </a:p>
        </p:txBody>
      </p:sp>
      <p:sp>
        <p:nvSpPr>
          <p:cNvPr id="16" name="TextBox 15"/>
          <p:cNvSpPr txBox="1"/>
          <p:nvPr/>
        </p:nvSpPr>
        <p:spPr>
          <a:xfrm>
            <a:off x="5029200" y="5202936"/>
            <a:ext cx="2894076" cy="274320"/>
          </a:xfrm>
          <a:prstGeom prst="rect">
            <a:avLst/>
          </a:prstGeom>
          <a:noFill/>
        </p:spPr>
        <p:txBody>
          <a:bodyPr wrap="square" lIns="0" rIns="0" tIns="0" bIns="0" anchor="t">
            <a:noAutofit/>
          </a:bodyPr>
          <a:lstStyle/>
          <a:p>
            <a:pPr algn="l"/>
            <a:r>
              <a:rPr sz="1200" b="0" i="0">
                <a:solidFill>
                  <a:srgbClr val="1E293B"/>
                </a:solidFill>
              </a:rPr>
              <a:t>95% CI [+0.054, +0.224]</a:t>
            </a:r>
          </a:p>
        </p:txBody>
      </p:sp>
      <p:sp>
        <p:nvSpPr>
          <p:cNvPr id="17" name="Stat: Acceptable label in Qwen top 3"/>
          <p:cNvSpPr/>
          <p:nvPr/>
        </p:nvSpPr>
        <p:spPr>
          <a:xfrm>
            <a:off x="8380476" y="3977639"/>
            <a:ext cx="3259836" cy="1645920"/>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563356" y="4123944"/>
            <a:ext cx="2894076" cy="274320"/>
          </a:xfrm>
          <a:prstGeom prst="rect">
            <a:avLst/>
          </a:prstGeom>
          <a:noFill/>
        </p:spPr>
        <p:txBody>
          <a:bodyPr wrap="square" lIns="0" rIns="0" tIns="0" bIns="0" anchor="t">
            <a:noAutofit/>
          </a:bodyPr>
          <a:lstStyle/>
          <a:p>
            <a:pPr algn="l"/>
            <a:r>
              <a:rPr sz="1200" b="0" i="0">
                <a:solidFill>
                  <a:srgbClr val="64748B"/>
                </a:solidFill>
              </a:rPr>
              <a:t>Acceptable label in Qwen top 3</a:t>
            </a:r>
          </a:p>
        </p:txBody>
      </p:sp>
      <p:sp>
        <p:nvSpPr>
          <p:cNvPr id="19" name="TextBox 18"/>
          <p:cNvSpPr txBox="1"/>
          <p:nvPr/>
        </p:nvSpPr>
        <p:spPr>
          <a:xfrm>
            <a:off x="8563356" y="4398264"/>
            <a:ext cx="2894076" cy="566928"/>
          </a:xfrm>
          <a:prstGeom prst="rect">
            <a:avLst/>
          </a:prstGeom>
          <a:noFill/>
        </p:spPr>
        <p:txBody>
          <a:bodyPr wrap="square" lIns="0" rIns="0" tIns="0" bIns="0" anchor="t">
            <a:noAutofit/>
          </a:bodyPr>
          <a:lstStyle/>
          <a:p>
            <a:pPr algn="l"/>
            <a:r>
              <a:rPr sz="3400" b="1" i="0">
                <a:solidFill>
                  <a:srgbClr val="0F172A"/>
                </a:solidFill>
                <a:latin typeface="+mj-lt"/>
              </a:rPr>
              <a:t>93.1%</a:t>
            </a:r>
          </a:p>
        </p:txBody>
      </p:sp>
      <p:sp>
        <p:nvSpPr>
          <p:cNvPr id="20" name="TextBox 19"/>
          <p:cNvSpPr txBox="1"/>
          <p:nvPr/>
        </p:nvSpPr>
        <p:spPr>
          <a:xfrm>
            <a:off x="8563356" y="5202936"/>
            <a:ext cx="2894076" cy="274320"/>
          </a:xfrm>
          <a:prstGeom prst="rect">
            <a:avLst/>
          </a:prstGeom>
          <a:noFill/>
        </p:spPr>
        <p:txBody>
          <a:bodyPr wrap="square" lIns="0" rIns="0" tIns="0" bIns="0" anchor="t">
            <a:noAutofit/>
          </a:bodyPr>
          <a:lstStyle/>
          <a:p>
            <a:pPr algn="l"/>
            <a:r>
              <a:rPr sz="1200" b="0" i="0">
                <a:solidFill>
                  <a:srgbClr val="1E293B"/>
                </a:solidFill>
              </a:rPr>
              <a:t>top 5: 99.1%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Qwen ranks well and knows when it is unsure</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FROM RESULTS TO PLAN</a:t>
            </a:r>
          </a:p>
        </p:txBody>
      </p:sp>
      <p:sp>
        <p:nvSpPr>
          <p:cNvPr id="4" name="Bullets"/>
          <p:cNvSpPr txBox="1"/>
          <p:nvPr/>
        </p:nvSpPr>
        <p:spPr>
          <a:xfrm>
            <a:off x="548640" y="1417320"/>
            <a:ext cx="4023360" cy="4846320"/>
          </a:xfrm>
          <a:prstGeom prst="rect">
            <a:avLst/>
          </a:prstGeom>
          <a:noFill/>
        </p:spPr>
        <p:txBody>
          <a:bodyPr wrap="square" lIns="0" rIns="0" tIns="0" bIns="0" anchor="ctr">
            <a:noAutofit/>
          </a:bodyPr>
          <a:lstStyle/>
          <a:p>
            <a:pPr marL="246888" indent="-246888">
              <a:lnSpc>
                <a:spcPct val="105000"/>
              </a:lnSpc>
              <a:spcAft>
                <a:spcPts val="1400"/>
              </a:spcAft>
              <a:buClr>
                <a:srgbClr val="2F5D7C"/>
              </a:buClr>
              <a:buFont typeface="Arial"/>
              <a:buChar char="•"/>
            </a:pPr>
            <a:r>
              <a:rPr sz="1800" b="0" i="0">
                <a:solidFill>
                  <a:srgbClr val="1E293B"/>
                </a:solidFill>
              </a:rPr>
              <a:t>Acceptable label in Qwen's top 3 for </a:t>
            </a:r>
            <a:r>
              <a:rPr sz="1800" b="1" i="0">
                <a:solidFill>
                  <a:srgbClr val="1E293B"/>
                </a:solidFill>
              </a:rPr>
              <a:t>93.1%</a:t>
            </a:r>
            <a:r>
              <a:rPr sz="1800" b="0" i="0">
                <a:solidFill>
                  <a:srgbClr val="1E293B"/>
                </a:solidFill>
              </a:rPr>
              <a:t> of items; top 5, 99.1%.</a:t>
            </a:r>
          </a:p>
          <a:p>
            <a:pPr marL="246888" indent="-246888">
              <a:lnSpc>
                <a:spcPct val="105000"/>
              </a:lnSpc>
              <a:spcAft>
                <a:spcPts val="1400"/>
              </a:spcAft>
              <a:buClr>
                <a:srgbClr val="2F5D7C"/>
              </a:buClr>
              <a:buFont typeface="Arial"/>
              <a:buChar char="•"/>
            </a:pPr>
            <a:r>
              <a:rPr sz="1800" b="0" i="0">
                <a:solidFill>
                  <a:srgbClr val="1E293B"/>
                </a:solidFill>
              </a:rPr>
              <a:t>In-set rate rises from 0.40 to </a:t>
            </a:r>
            <a:r>
              <a:rPr sz="1800" b="1" i="0">
                <a:solidFill>
                  <a:srgbClr val="1E293B"/>
                </a:solidFill>
              </a:rPr>
              <a:t>0.87</a:t>
            </a:r>
            <a:r>
              <a:rPr sz="1800" b="0" i="0">
                <a:solidFill>
                  <a:srgbClr val="1E293B"/>
                </a:solidFill>
              </a:rPr>
              <a:t>, least to most confident fifth.</a:t>
            </a:r>
          </a:p>
          <a:p>
            <a:pPr marL="246888" indent="-246888">
              <a:lnSpc>
                <a:spcPct val="105000"/>
              </a:lnSpc>
              <a:spcAft>
                <a:spcPts val="1400"/>
              </a:spcAft>
              <a:buClr>
                <a:srgbClr val="2F5D7C"/>
              </a:buClr>
              <a:buFont typeface="Arial"/>
              <a:buChar char="•"/>
            </a:pPr>
            <a:r>
              <a:rPr sz="1800" b="0" i="0">
                <a:solidFill>
                  <a:srgbClr val="1E293B"/>
                </a:solidFill>
              </a:rPr>
              <a:t>Most errors are choices among a few highly ranked candidates.</a:t>
            </a:r>
          </a:p>
          <a:p>
            <a:pPr marL="246888" indent="-246888">
              <a:lnSpc>
                <a:spcPct val="105000"/>
              </a:lnSpc>
              <a:spcAft>
                <a:spcPts val="1400"/>
              </a:spcAft>
              <a:buClr>
                <a:srgbClr val="2F5D7C"/>
              </a:buClr>
              <a:buFont typeface="Arial"/>
              <a:buChar char="•"/>
            </a:pPr>
            <a:r>
              <a:rPr sz="1800" b="0" i="0">
                <a:solidFill>
                  <a:srgbClr val="1E293B"/>
                </a:solidFill>
              </a:rPr>
              <a:t>So an LLM is needed only on uncertain items, not on all.</a:t>
            </a:r>
          </a:p>
        </p:txBody>
      </p:sp>
      <p:sp>
        <p:nvSpPr>
          <p:cNvPr id="5" name="Panel: ranking_vs_decision"/>
          <p:cNvSpPr/>
          <p:nvPr/>
        </p:nvSpPr>
        <p:spPr>
          <a:xfrm>
            <a:off x="4846320" y="1899566"/>
            <a:ext cx="6793992" cy="3881826"/>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Figure: ranking_vs_decision" descr="ranking_vs_decision.png"/>
          <p:cNvPicPr>
            <a:picLocks noChangeAspect="1"/>
          </p:cNvPicPr>
          <p:nvPr/>
        </p:nvPicPr>
        <p:blipFill>
          <a:blip r:embed="rId3"/>
          <a:stretch>
            <a:fillRect/>
          </a:stretch>
        </p:blipFill>
        <p:spPr>
          <a:xfrm>
            <a:off x="5010912" y="2064158"/>
            <a:ext cx="6464807" cy="3132018"/>
          </a:xfrm>
          <a:prstGeom prst="rect">
            <a:avLst/>
          </a:prstGeom>
        </p:spPr>
      </p:pic>
      <p:sp>
        <p:nvSpPr>
          <p:cNvPr id="7" name="Caption"/>
          <p:cNvSpPr txBox="1"/>
          <p:nvPr/>
        </p:nvSpPr>
        <p:spPr>
          <a:xfrm>
            <a:off x="5120640" y="5251041"/>
            <a:ext cx="6245352" cy="365760"/>
          </a:xfrm>
          <a:prstGeom prst="rect">
            <a:avLst/>
          </a:prstGeom>
          <a:noFill/>
        </p:spPr>
        <p:txBody>
          <a:bodyPr wrap="square" lIns="0" rIns="0" tIns="0" bIns="0" anchor="t">
            <a:noAutofit/>
          </a:bodyPr>
          <a:lstStyle/>
          <a:p>
            <a:pPr algn="l"/>
            <a:r>
              <a:rPr sz="1100" b="0" i="1">
                <a:solidFill>
                  <a:srgbClr val="64748B"/>
                </a:solidFill>
              </a:rPr>
              <a:t>Qwen3-8B + LoRA, seeds 0–2, dev (docs/raw/E13_Q8_topk_confidence.txt). Exploratory; dev chose nothing.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F172A"/>
                </a:solidFill>
              </a:rPr>
              <a:t>A confidence-routed cascade by October 31</a:t>
            </a:r>
          </a:p>
        </p:txBody>
      </p:sp>
      <p:sp>
        <p:nvSpPr>
          <p:cNvPr id="3" name="Kicker"/>
          <p:cNvSpPr txBox="1"/>
          <p:nvPr/>
        </p:nvSpPr>
        <p:spPr>
          <a:xfrm>
            <a:off x="548640" y="329184"/>
            <a:ext cx="8229600" cy="256032"/>
          </a:xfrm>
          <a:prstGeom prst="rect">
            <a:avLst/>
          </a:prstGeom>
          <a:noFill/>
        </p:spPr>
        <p:txBody>
          <a:bodyPr wrap="square" lIns="0" rIns="0" tIns="0" bIns="0" anchor="t">
            <a:noAutofit/>
          </a:bodyPr>
          <a:lstStyle/>
          <a:p>
            <a:pPr algn="l"/>
            <a:r>
              <a:rPr sz="1200" b="1" i="0" spc="120">
                <a:solidFill>
                  <a:srgbClr val="2F5D7C"/>
                </a:solidFill>
              </a:rPr>
              <a:t>ROADMAP</a:t>
            </a:r>
          </a:p>
        </p:txBody>
      </p:sp>
      <p:sp>
        <p:nvSpPr>
          <p:cNvPr id="4" name="Bullets"/>
          <p:cNvSpPr txBox="1"/>
          <p:nvPr/>
        </p:nvSpPr>
        <p:spPr>
          <a:xfrm>
            <a:off x="548640" y="1417320"/>
            <a:ext cx="4023360" cy="3657600"/>
          </a:xfrm>
          <a:prstGeom prst="rect">
            <a:avLst/>
          </a:prstGeom>
          <a:noFill/>
        </p:spPr>
        <p:txBody>
          <a:bodyPr wrap="square" lIns="0" rIns="0" tIns="0" bIns="0" anchor="ctr">
            <a:noAutofit/>
          </a:bodyPr>
          <a:lstStyle/>
          <a:p>
            <a:pPr marL="246888" indent="-246888">
              <a:lnSpc>
                <a:spcPct val="105000"/>
              </a:lnSpc>
              <a:spcAft>
                <a:spcPts val="1200"/>
              </a:spcAft>
              <a:buClr>
                <a:srgbClr val="2F5D7C"/>
              </a:buClr>
              <a:buFont typeface="Arial"/>
              <a:buChar char="•"/>
            </a:pPr>
            <a:r>
              <a:rPr sz="1700" b="1" i="0">
                <a:solidFill>
                  <a:srgbClr val="1E293B"/>
                </a:solidFill>
              </a:rPr>
              <a:t>Oct 5–11, M1:</a:t>
            </a:r>
            <a:r>
              <a:rPr sz="1700" b="0" i="0">
                <a:solidFill>
                  <a:srgbClr val="1E293B"/>
                </a:solidFill>
              </a:rPr>
              <a:t> 12-epoch Qwen on ten seeds; calibrated candidate set C(x).</a:t>
            </a:r>
          </a:p>
          <a:p>
            <a:pPr marL="246888" indent="-246888">
              <a:lnSpc>
                <a:spcPct val="105000"/>
              </a:lnSpc>
              <a:spcAft>
                <a:spcPts val="1200"/>
              </a:spcAft>
              <a:buClr>
                <a:srgbClr val="2F5D7C"/>
              </a:buClr>
              <a:buFont typeface="Arial"/>
              <a:buChar char="•"/>
            </a:pPr>
            <a:r>
              <a:rPr sz="1700" b="1" i="0">
                <a:solidFill>
                  <a:srgbClr val="1E293B"/>
                </a:solidFill>
              </a:rPr>
              <a:t>Oct 12–18, M3:</a:t>
            </a:r>
            <a:r>
              <a:rPr sz="1700" b="0" i="0">
                <a:solidFill>
                  <a:srgbClr val="1E293B"/>
                </a:solidFill>
              </a:rPr>
              <a:t> local LLM scores only C(x), with definitions and boundary examples.</a:t>
            </a:r>
          </a:p>
          <a:p>
            <a:pPr marL="246888" indent="-246888">
              <a:lnSpc>
                <a:spcPct val="105000"/>
              </a:lnSpc>
              <a:spcAft>
                <a:spcPts val="1200"/>
              </a:spcAft>
              <a:buClr>
                <a:srgbClr val="2F5D7C"/>
              </a:buClr>
              <a:buFont typeface="Arial"/>
              <a:buChar char="•"/>
            </a:pPr>
            <a:r>
              <a:rPr sz="1700" b="1" i="0">
                <a:solidFill>
                  <a:srgbClr val="1E293B"/>
                </a:solidFill>
              </a:rPr>
              <a:t>Oct 19–25, M2:</a:t>
            </a:r>
            <a:r>
              <a:rPr sz="1700" b="0" i="0">
                <a:solidFill>
                  <a:srgbClr val="1E293B"/>
                </a:solidFill>
              </a:rPr>
              <a:t> uncertainty router; sweep deferral δ for accuracy vs. calls.</a:t>
            </a:r>
          </a:p>
          <a:p>
            <a:pPr marL="246888" indent="-246888">
              <a:lnSpc>
                <a:spcPct val="105000"/>
              </a:lnSpc>
              <a:spcAft>
                <a:spcPts val="1200"/>
              </a:spcAft>
              <a:buClr>
                <a:srgbClr val="2F5D7C"/>
              </a:buClr>
              <a:buFont typeface="Arial"/>
              <a:buChar char="•"/>
            </a:pPr>
            <a:r>
              <a:rPr sz="1700" b="1" i="0">
                <a:solidFill>
                  <a:srgbClr val="1E293B"/>
                </a:solidFill>
              </a:rPr>
              <a:t>Oct 26–31, M4:</a:t>
            </a:r>
            <a:r>
              <a:rPr sz="1700" b="0" i="0">
                <a:solidFill>
                  <a:srgbClr val="1E293B"/>
                </a:solidFill>
              </a:rPr>
              <a:t> distil into M1, 4-bit inference; freeze and final scores.</a:t>
            </a:r>
          </a:p>
        </p:txBody>
      </p:sp>
      <p:sp>
        <p:nvSpPr>
          <p:cNvPr id="5" name="Target"/>
          <p:cNvSpPr/>
          <p:nvPr/>
        </p:nvSpPr>
        <p:spPr>
          <a:xfrm>
            <a:off x="548640" y="5257800"/>
            <a:ext cx="4023360" cy="868680"/>
          </a:xfrm>
          <a:prstGeom prst="roundRect">
            <a:avLst>
              <a:gd name="adj" fmla="val 2500"/>
            </a:avLst>
          </a:prstGeom>
          <a:solidFill>
            <a:srgbClr val="EEF3F0"/>
          </a:solidFill>
          <a:ln w="9525">
            <a:solidFill>
              <a:srgbClr val="5B7B6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r>
              <a:rPr sz="1600" b="1" i="0">
                <a:solidFill>
                  <a:srgbClr val="0F172A"/>
                </a:solidFill>
              </a:rPr>
              <a:t>Target:</a:t>
            </a:r>
            <a:r>
              <a:rPr sz="1600" b="0" i="0">
                <a:solidFill>
                  <a:srgbClr val="0F172A"/>
                </a:solidFill>
              </a:rPr>
              <a:t> at least 0.60 dev S2 with at most 0.3 LLM calls per item.</a:t>
            </a:r>
          </a:p>
        </p:txBody>
      </p:sp>
      <p:sp>
        <p:nvSpPr>
          <p:cNvPr id="6" name="Panel"/>
          <p:cNvSpPr/>
          <p:nvPr/>
        </p:nvSpPr>
        <p:spPr>
          <a:xfrm>
            <a:off x="4846320" y="1417320"/>
            <a:ext cx="6793992" cy="4846320"/>
          </a:xfrm>
          <a:prstGeom prst="roundRect">
            <a:avLst>
              <a:gd name="adj" fmla="val 25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nvGrpSpPr>
          <p:cNvPr id="7" name="Diagram: planned cascade (Report Figure 5)"/>
          <p:cNvGrpSpPr/>
          <p:nvPr/>
        </p:nvGrpSpPr>
        <p:grpSpPr>
          <a:xfrm>
            <a:off x="5120640" y="1645920"/>
            <a:ext cx="6245352" cy="3931920"/>
            <a:chOff x="5120640" y="1645920"/>
            <a:chExt cx="6245352" cy="3931920"/>
          </a:xfrm>
        </p:grpSpPr>
        <p:sp>
          <p:nvSpPr>
            <p:cNvPr id="8" name="Rounded Rectangle 7"/>
            <p:cNvSpPr/>
            <p:nvPr/>
          </p:nvSpPr>
          <p:spPr>
            <a:xfrm>
              <a:off x="7132320" y="1645920"/>
              <a:ext cx="2148840" cy="438912"/>
            </a:xfrm>
            <a:prstGeom prst="roundRect">
              <a:avLst>
                <a:gd name="adj" fmla="val 12000"/>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200" b="1" i="0">
                  <a:solidFill>
                    <a:srgbClr val="0F172A"/>
                  </a:solidFill>
                </a:rPr>
                <a:t>Input (q, Q, a)</a:t>
              </a:r>
            </a:p>
          </p:txBody>
        </p:sp>
        <p:sp>
          <p:nvSpPr>
            <p:cNvPr id="9" name="Rounded Rectangle 8"/>
            <p:cNvSpPr/>
            <p:nvPr/>
          </p:nvSpPr>
          <p:spPr>
            <a:xfrm>
              <a:off x="7132320" y="2377440"/>
              <a:ext cx="2148840" cy="868680"/>
            </a:xfrm>
            <a:prstGeom prst="roundRect">
              <a:avLst>
                <a:gd name="adj" fmla="val 12000"/>
              </a:avLst>
            </a:prstGeom>
            <a:solidFill>
              <a:srgbClr val="E8EEF4"/>
            </a:solidFill>
            <a:ln w="15875">
              <a:solidFill>
                <a:srgbClr val="2F5D7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100" b="1" i="0">
                  <a:solidFill>
                    <a:srgbClr val="0F172A"/>
                  </a:solidFill>
                </a:rPr>
                <a:t>M1 Candidate generator</a:t>
              </a:r>
            </a:p>
            <a:p>
              <a:pPr algn="ctr"/>
              <a:r>
                <a:rPr sz="1100" b="0" i="0">
                  <a:solidFill>
                    <a:srgbClr val="1E293B"/>
                  </a:solidFill>
                </a:rPr>
                <a:t>Qwen3-8B + LoRA, K seeds,</a:t>
              </a:r>
            </a:p>
            <a:p>
              <a:pPr algn="ctr"/>
              <a:r>
                <a:rPr sz="1100" b="0" i="0">
                  <a:solidFill>
                    <a:srgbClr val="1E293B"/>
                  </a:solidFill>
                </a:rPr>
                <a:t>logit adj. → C(x), u(x)</a:t>
              </a:r>
            </a:p>
          </p:txBody>
        </p:sp>
        <p:sp>
          <p:nvSpPr>
            <p:cNvPr id="10" name="Rounded Rectangle 9"/>
            <p:cNvSpPr/>
            <p:nvPr/>
          </p:nvSpPr>
          <p:spPr>
            <a:xfrm>
              <a:off x="7132320" y="3611880"/>
              <a:ext cx="2148840" cy="566928"/>
            </a:xfrm>
            <a:prstGeom prst="roundRect">
              <a:avLst>
                <a:gd name="adj" fmla="val 12000"/>
              </a:avLst>
            </a:prstGeom>
            <a:solidFill>
              <a:srgbClr val="FFFFFF"/>
            </a:solidFill>
            <a:ln w="12700">
              <a:solidFill>
                <a:srgbClr val="6474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100" b="1" i="0">
                  <a:solidFill>
                    <a:srgbClr val="0F172A"/>
                  </a:solidFill>
                </a:rPr>
                <a:t>M2 Router</a:t>
              </a:r>
            </a:p>
            <a:p>
              <a:pPr algn="ctr"/>
              <a:r>
                <a:rPr sz="1100" b="0" i="0">
                  <a:solidFill>
                    <a:srgbClr val="1E293B"/>
                  </a:solidFill>
                </a:rPr>
                <a:t>defer the δ most uncertain</a:t>
              </a:r>
            </a:p>
          </p:txBody>
        </p:sp>
        <p:sp>
          <p:nvSpPr>
            <p:cNvPr id="11" name="Rounded Rectangle 10"/>
            <p:cNvSpPr/>
            <p:nvPr/>
          </p:nvSpPr>
          <p:spPr>
            <a:xfrm>
              <a:off x="7132320" y="5074920"/>
              <a:ext cx="2148840" cy="502920"/>
            </a:xfrm>
            <a:prstGeom prst="roundRect">
              <a:avLst>
                <a:gd name="adj" fmla="val 12000"/>
              </a:avLst>
            </a:prstGeom>
            <a:solidFill>
              <a:srgbClr val="FFFFFF"/>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200" b="1" i="0">
                  <a:solidFill>
                    <a:srgbClr val="0F172A"/>
                  </a:solidFill>
                </a:rPr>
                <a:t>Subtask 2 → Subtask 1</a:t>
              </a:r>
            </a:p>
          </p:txBody>
        </p:sp>
        <p:sp>
          <p:nvSpPr>
            <p:cNvPr id="12" name="Rounded Rectangle 11"/>
            <p:cNvSpPr/>
            <p:nvPr/>
          </p:nvSpPr>
          <p:spPr>
            <a:xfrm>
              <a:off x="9692640" y="3429000"/>
              <a:ext cx="1673352" cy="960120"/>
            </a:xfrm>
            <a:prstGeom prst="roundRect">
              <a:avLst>
                <a:gd name="adj" fmla="val 12000"/>
              </a:avLst>
            </a:prstGeom>
            <a:solidFill>
              <a:srgbClr val="FFFFFF"/>
            </a:solidFill>
            <a:ln w="12700">
              <a:solidFill>
                <a:srgbClr val="6474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000" b="1" i="0">
                  <a:solidFill>
                    <a:srgbClr val="0F172A"/>
                  </a:solidFill>
                </a:rPr>
                <a:t>M3 LLM adjudicator</a:t>
              </a:r>
            </a:p>
            <a:p>
              <a:pPr algn="ctr"/>
              <a:r>
                <a:rPr sz="1000" b="0" i="0">
                  <a:solidFill>
                    <a:srgbClr val="1E293B"/>
                  </a:solidFill>
                </a:rPr>
                <a:t>scores only C(x):</a:t>
              </a:r>
            </a:p>
            <a:p>
              <a:pPr algn="ctr"/>
              <a:r>
                <a:rPr sz="1000" b="0" i="0">
                  <a:solidFill>
                    <a:srgbClr val="1E293B"/>
                  </a:solidFill>
                </a:rPr>
                <a:t>definitions, boundary</a:t>
              </a:r>
            </a:p>
            <a:p>
              <a:pPr algn="ctr"/>
              <a:r>
                <a:rPr sz="1000" b="0" i="0">
                  <a:solidFill>
                    <a:srgbClr val="1E293B"/>
                  </a:solidFill>
                </a:rPr>
                <a:t>examples</a:t>
              </a:r>
            </a:p>
          </p:txBody>
        </p:sp>
        <p:sp>
          <p:nvSpPr>
            <p:cNvPr id="13" name="Rounded Rectangle 12"/>
            <p:cNvSpPr/>
            <p:nvPr/>
          </p:nvSpPr>
          <p:spPr>
            <a:xfrm>
              <a:off x="5120640" y="2286000"/>
              <a:ext cx="1645920" cy="1051560"/>
            </a:xfrm>
            <a:prstGeom prst="roundRect">
              <a:avLst>
                <a:gd name="adj" fmla="val 12000"/>
              </a:avLst>
            </a:prstGeom>
            <a:solidFill>
              <a:srgbClr val="FFFFFF"/>
            </a:solidFill>
            <a:ln w="12700">
              <a:solidFill>
                <a:srgbClr val="6474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r>
                <a:rPr sz="1000" b="1" i="0">
                  <a:solidFill>
                    <a:srgbClr val="0F172A"/>
                  </a:solidFill>
                </a:rPr>
                <a:t>M4 Distillation</a:t>
              </a:r>
            </a:p>
            <a:p>
              <a:pPr algn="ctr"/>
              <a:r>
                <a:rPr sz="1000" b="0" i="0">
                  <a:solidFill>
                    <a:srgbClr val="1E293B"/>
                  </a:solidFill>
                </a:rPr>
                <a:t>M3's train decisions</a:t>
              </a:r>
            </a:p>
            <a:p>
              <a:pPr algn="ctr"/>
              <a:r>
                <a:rPr sz="1000" b="0" i="0">
                  <a:solidFill>
                    <a:srgbClr val="1E293B"/>
                  </a:solidFill>
                </a:rPr>
                <a:t>as soft targets;</a:t>
              </a:r>
            </a:p>
            <a:p>
              <a:pPr algn="ctr"/>
              <a:r>
                <a:rPr sz="1000" b="0" i="0">
                  <a:solidFill>
                    <a:srgbClr val="1E293B"/>
                  </a:solidFill>
                </a:rPr>
                <a:t>4-bit inference</a:t>
              </a:r>
            </a:p>
          </p:txBody>
        </p:sp>
        <p:cxnSp>
          <p:nvCxnSpPr>
            <p:cNvPr id="14" name="Connector 13"/>
            <p:cNvCxnSpPr>
              <a:stCxn id="8" idx="2"/>
              <a:endCxn id="9" idx="0"/>
            </p:cNvCxnSpPr>
            <p:nvPr/>
          </p:nvCxnSpPr>
          <p:spPr>
            <a:xfrm flipH="1">
              <a:off x="8206740" y="2084832"/>
              <a:ext cx="0" cy="292608"/>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a:stCxn id="9" idx="2"/>
              <a:endCxn id="10" idx="0"/>
            </p:cNvCxnSpPr>
            <p:nvPr/>
          </p:nvCxnSpPr>
          <p:spPr>
            <a:xfrm flipH="1">
              <a:off x="8206740" y="3246120"/>
              <a:ext cx="0" cy="365760"/>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a:stCxn id="10" idx="2"/>
              <a:endCxn id="11" idx="0"/>
            </p:cNvCxnSpPr>
            <p:nvPr/>
          </p:nvCxnSpPr>
          <p:spPr>
            <a:xfrm flipH="1">
              <a:off x="8206740" y="4178808"/>
              <a:ext cx="0" cy="896112"/>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a:stCxn id="10" idx="3"/>
              <a:endCxn id="12" idx="1"/>
            </p:cNvCxnSpPr>
            <p:nvPr/>
          </p:nvCxnSpPr>
          <p:spPr>
            <a:xfrm>
              <a:off x="9281160" y="3895344"/>
              <a:ext cx="411480" cy="13716"/>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a:stCxn id="13" idx="3"/>
              <a:endCxn id="9" idx="1"/>
            </p:cNvCxnSpPr>
            <p:nvPr/>
          </p:nvCxnSpPr>
          <p:spPr>
            <a:xfrm flipV="1">
              <a:off x="6766560" y="2811780"/>
              <a:ext cx="365760" cy="0"/>
            </a:xfrm>
            <a:prstGeom prst="line">
              <a:avLst/>
            </a:prstGeom>
            <a:ln w="15875">
              <a:solidFill>
                <a:srgbClr val="64748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9281160" y="4389120"/>
              <a:ext cx="1248156" cy="937260"/>
            </a:xfrm>
            <a:custGeom>
              <a:avLst/>
              <a:gdLst/>
              <a:ahLst/>
              <a:cxnLst/>
              <a:rect l="l" t="t" r="r" b="b"/>
              <a:pathLst>
                <a:path w="1248156" h="937260">
                  <a:moveTo>
                    <a:pt x="1248156" y="0"/>
                  </a:moveTo>
                  <a:lnTo>
                    <a:pt x="1248156" y="937260"/>
                  </a:lnTo>
                  <a:lnTo>
                    <a:pt x="0" y="937260"/>
                  </a:lnTo>
                </a:path>
              </a:pathLst>
            </a:custGeom>
            <a:noFill/>
            <a:ln w="15875">
              <a:solidFill>
                <a:srgbClr val="64748B"/>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9281160" y="2811780"/>
              <a:ext cx="1248156" cy="617220"/>
            </a:xfrm>
            <a:custGeom>
              <a:avLst/>
              <a:gdLst/>
              <a:ahLst/>
              <a:cxnLst/>
              <a:rect l="l" t="t" r="r" b="b"/>
              <a:pathLst>
                <a:path w="1248156" h="617220">
                  <a:moveTo>
                    <a:pt x="1248156" y="617220"/>
                  </a:moveTo>
                  <a:lnTo>
                    <a:pt x="1248156" y="0"/>
                  </a:lnTo>
                  <a:lnTo>
                    <a:pt x="0" y="0"/>
                  </a:lnTo>
                </a:path>
              </a:pathLst>
            </a:custGeom>
            <a:noFill/>
            <a:ln w="15875">
              <a:solidFill>
                <a:srgbClr val="64748B"/>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0" y="2537460"/>
              <a:ext cx="1947672" cy="237744"/>
            </a:xfrm>
            <a:prstGeom prst="rect">
              <a:avLst/>
            </a:prstGeom>
            <a:noFill/>
          </p:spPr>
          <p:txBody>
            <a:bodyPr wrap="square" lIns="0" rIns="0" tIns="0" bIns="0">
              <a:noAutofit/>
            </a:bodyPr>
            <a:lstStyle/>
            <a:p>
              <a:pPr algn="ctr"/>
              <a:r>
                <a:rPr sz="1000" b="0" i="1">
                  <a:solidFill>
                    <a:srgbClr val="64748B"/>
                  </a:solidFill>
                </a:rPr>
                <a:t>soft targets (train)</a:t>
              </a:r>
            </a:p>
          </p:txBody>
        </p:sp>
        <p:sp>
          <p:nvSpPr>
            <p:cNvPr id="22" name="TextBox 21"/>
            <p:cNvSpPr txBox="1"/>
            <p:nvPr/>
          </p:nvSpPr>
          <p:spPr>
            <a:xfrm>
              <a:off x="7018020" y="4526280"/>
              <a:ext cx="1097280" cy="237744"/>
            </a:xfrm>
            <a:prstGeom prst="rect">
              <a:avLst/>
            </a:prstGeom>
            <a:noFill/>
          </p:spPr>
          <p:txBody>
            <a:bodyPr wrap="square" lIns="0" rIns="0" tIns="0" bIns="0">
              <a:noAutofit/>
            </a:bodyPr>
            <a:lstStyle/>
            <a:p>
              <a:pPr algn="r"/>
              <a:r>
                <a:rPr sz="1000" b="0" i="1">
                  <a:solidFill>
                    <a:srgbClr val="64748B"/>
                  </a:solidFill>
                </a:rPr>
                <a:t>keep, 1 − δ</a:t>
              </a:r>
            </a:p>
          </p:txBody>
        </p:sp>
        <p:sp>
          <p:nvSpPr>
            <p:cNvPr id="23" name="TextBox 22"/>
            <p:cNvSpPr txBox="1"/>
            <p:nvPr/>
          </p:nvSpPr>
          <p:spPr>
            <a:xfrm>
              <a:off x="9299448" y="3657600"/>
              <a:ext cx="365760" cy="237744"/>
            </a:xfrm>
            <a:prstGeom prst="rect">
              <a:avLst/>
            </a:prstGeom>
            <a:noFill/>
          </p:spPr>
          <p:txBody>
            <a:bodyPr wrap="square" lIns="0" rIns="0" tIns="0" bIns="0">
              <a:noAutofit/>
            </a:bodyPr>
            <a:lstStyle/>
            <a:p>
              <a:pPr algn="ctr"/>
              <a:r>
                <a:rPr sz="1100" b="0" i="1">
                  <a:solidFill>
                    <a:srgbClr val="64748B"/>
                  </a:solidFill>
                </a:rPr>
                <a:t>δ</a:t>
              </a:r>
            </a:p>
          </p:txBody>
        </p:sp>
      </p:grpSp>
      <p:sp>
        <p:nvSpPr>
          <p:cNvPr id="24" name="Caption"/>
          <p:cNvSpPr txBox="1"/>
          <p:nvPr/>
        </p:nvSpPr>
        <p:spPr>
          <a:xfrm>
            <a:off x="5120640" y="5760720"/>
            <a:ext cx="6245352" cy="365760"/>
          </a:xfrm>
          <a:prstGeom prst="rect">
            <a:avLst/>
          </a:prstGeom>
          <a:noFill/>
        </p:spPr>
        <p:txBody>
          <a:bodyPr wrap="square" lIns="0" rIns="0" tIns="0" bIns="0" anchor="t">
            <a:noAutofit/>
          </a:bodyPr>
          <a:lstStyle/>
          <a:p>
            <a:pPr algn="l"/>
            <a:r>
              <a:rPr sz="1100" b="0" i="1">
                <a:solidFill>
                  <a:srgbClr val="64748B"/>
                </a:solidFill>
              </a:rPr>
              <a:t>Redrawn from Report Figure 5. Dashed: planned, none run yet. LLM calls per item = δ.</a:t>
            </a:r>
          </a:p>
        </p:txBody>
      </p:sp>
    </p:spTree>
  </p:cSld>
  <p:clrMapOvr>
    <a:masterClrMapping/>
  </p:clrMapOvr>
</p:sld>
</file>

<file path=ppt/theme/theme1.xml><?xml version="1.0" encoding="utf-8"?>
<a:theme xmlns:a="http://schemas.openxmlformats.org/drawingml/2006/main" name="Office Theme">
  <a:themeElements>
    <a:clrScheme name="Office">
      <a:dk1>
        <a:srgbClr val="1E293B"/>
      </a:dk1>
      <a:lt1>
        <a:srgbClr val="FFFFFF"/>
      </a:lt1>
      <a:dk2>
        <a:srgbClr val="0F172A"/>
      </a:dk2>
      <a:lt2>
        <a:srgbClr val="F8F9FA"/>
      </a:lt2>
      <a:accent1>
        <a:srgbClr val="2F5D7C"/>
      </a:accent1>
      <a:accent2>
        <a:srgbClr val="5B7B6F"/>
      </a:accent2>
      <a:accent3>
        <a:srgbClr val="94A3B8"/>
      </a:accent3>
      <a:accent4>
        <a:srgbClr val="64748B"/>
      </a:accent4>
      <a:accent5>
        <a:srgbClr val="8FA9BF"/>
      </a:accent5>
      <a:accent6>
        <a:srgbClr val="A3B8AE"/>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